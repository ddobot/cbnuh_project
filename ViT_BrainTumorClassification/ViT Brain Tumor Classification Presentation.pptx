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7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4" r:id="rId6"/>
    <p:sldId id="262" r:id="rId7"/>
    <p:sldId id="263" r:id="rId8"/>
    <p:sldId id="267" r:id="rId9"/>
    <p:sldId id="265" r:id="rId10"/>
    <p:sldId id="268" r:id="rId11"/>
    <p:sldId id="271" r:id="rId12"/>
    <p:sldId id="269" r:id="rId13"/>
    <p:sldId id="270" r:id="rId14"/>
    <p:sldId id="273" r:id="rId15"/>
    <p:sldId id="282" r:id="rId16"/>
    <p:sldId id="272" r:id="rId17"/>
    <p:sldId id="274" r:id="rId18"/>
    <p:sldId id="275" r:id="rId19"/>
    <p:sldId id="276" r:id="rId20"/>
    <p:sldId id="280" r:id="rId21"/>
    <p:sldId id="279" r:id="rId22"/>
    <p:sldId id="277" r:id="rId23"/>
    <p:sldId id="281" r:id="rId24"/>
    <p:sldId id="278" r:id="rId25"/>
    <p:sldId id="284" r:id="rId26"/>
    <p:sldId id="260" r:id="rId27"/>
  </p:sldIdLst>
  <p:sldSz cx="12192000" cy="6858000"/>
  <p:notesSz cx="6858000" cy="9144000"/>
  <p:embeddedFontLst>
    <p:embeddedFont>
      <p:font typeface="KoPub돋움체 Bold" panose="02020603020101020101" pitchFamily="18" charset="-127"/>
      <p:regular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맑은 고딕" panose="020B0503020000020004" pitchFamily="50" charset="-127"/>
      <p:regular r:id="rId35"/>
      <p:bold r:id="rId36"/>
    </p:embeddedFont>
    <p:embeddedFont>
      <p:font typeface="에스코어 드림 3 Light" panose="020B0303030302020204" pitchFamily="34" charset="-127"/>
      <p:regular r:id="rId37"/>
    </p:embeddedFont>
    <p:embeddedFont>
      <p:font typeface="에스코어 드림 4 Regular" panose="020B0503030302020204" pitchFamily="34" charset="-127"/>
      <p:regular r:id="rId38"/>
    </p:embeddedFont>
    <p:embeddedFont>
      <p:font typeface="에스코어 드림 5 Medium" panose="020B0503030302020204" pitchFamily="34" charset="-127"/>
      <p:regular r:id="rId39"/>
    </p:embeddedFont>
    <p:embeddedFont>
      <p:font typeface="에스코어 드림 6 Bold" panose="020B0703030302020204" pitchFamily="34" charset="-127"/>
      <p:bold r:id="rId40"/>
    </p:embeddedFont>
    <p:embeddedFont>
      <p:font typeface="에스코어 드림 7 ExtraBold" panose="020B0803030302020204" pitchFamily="34" charset="-127"/>
      <p:bold r:id="rId41"/>
    </p:embeddedFont>
    <p:embeddedFont>
      <p:font typeface="에스코어 드림 8 Heavy" panose="020B0903030302020204" pitchFamily="34" charset="-127"/>
      <p:bold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474E"/>
    <a:srgbClr val="95BDBA"/>
    <a:srgbClr val="81B1AE"/>
    <a:srgbClr val="76AD98"/>
    <a:srgbClr val="387682"/>
    <a:srgbClr val="D4E4D6"/>
    <a:srgbClr val="FFD2A4"/>
    <a:srgbClr val="C3D391"/>
    <a:srgbClr val="8DB996"/>
    <a:srgbClr val="3704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19" autoAdjust="0"/>
    <p:restoredTop sz="79216" autoAdjust="0"/>
  </p:normalViewPr>
  <p:slideViewPr>
    <p:cSldViewPr snapToGrid="0">
      <p:cViewPr varScale="1">
        <p:scale>
          <a:sx n="86" d="100"/>
          <a:sy n="86" d="100"/>
        </p:scale>
        <p:origin x="154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95BDBA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95BD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18-40FF-94E9-B8ECDD461318}"/>
              </c:ext>
            </c:extLst>
          </c:dPt>
          <c:dLbls>
            <c:dLbl>
              <c:idx val="0"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D18-40FF-94E9-B8ECDD461318}"/>
                </c:ext>
              </c:extLst>
            </c:dLbl>
            <c:dLbl>
              <c:idx val="1"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D18-40FF-94E9-B8ECDD461318}"/>
                </c:ext>
              </c:extLst>
            </c:dLbl>
            <c:dLbl>
              <c:idx val="2"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D18-40FF-94E9-B8ECDD4613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2017년</c:v>
                </c:pt>
                <c:pt idx="1">
                  <c:v>2019년</c:v>
                </c:pt>
                <c:pt idx="2">
                  <c:v>2021년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49001</c:v>
                </c:pt>
                <c:pt idx="1">
                  <c:v>57446</c:v>
                </c:pt>
                <c:pt idx="2">
                  <c:v>63787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18-40FF-94E9-B8ECDD4613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66476224"/>
        <c:axId val="1366474560"/>
      </c:barChart>
      <c:catAx>
        <c:axId val="1366476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pPr>
            <a:endParaRPr lang="ko-KR"/>
          </a:p>
        </c:txPr>
        <c:crossAx val="1366474560"/>
        <c:crosses val="autoZero"/>
        <c:auto val="1"/>
        <c:lblAlgn val="ctr"/>
        <c:lblOffset val="100"/>
        <c:noMultiLvlLbl val="0"/>
      </c:catAx>
      <c:valAx>
        <c:axId val="13664745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66476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지역별 영상의학과 전문의수</c:v>
                </c:pt>
              </c:strCache>
            </c:strRef>
          </c:tx>
          <c:dPt>
            <c:idx val="0"/>
            <c:bubble3D val="0"/>
            <c:spPr>
              <a:solidFill>
                <a:srgbClr val="22474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9ABD-4F8F-8B40-F41B7A8F6D9D}"/>
              </c:ext>
            </c:extLst>
          </c:dPt>
          <c:dPt>
            <c:idx val="1"/>
            <c:bubble3D val="0"/>
            <c:spPr>
              <a:solidFill>
                <a:srgbClr val="38768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ABD-4F8F-8B40-F41B7A8F6D9D}"/>
              </c:ext>
            </c:extLst>
          </c:dPt>
          <c:dPt>
            <c:idx val="2"/>
            <c:bubble3D val="0"/>
            <c:spPr>
              <a:solidFill>
                <a:srgbClr val="76AD9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9ABD-4F8F-8B40-F41B7A8F6D9D}"/>
              </c:ext>
            </c:extLst>
          </c:dPt>
          <c:dPt>
            <c:idx val="3"/>
            <c:bubble3D val="0"/>
            <c:spPr>
              <a:solidFill>
                <a:srgbClr val="95BDB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BD-4F8F-8B40-F41B7A8F6D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서울</c:v>
                </c:pt>
                <c:pt idx="1">
                  <c:v>경기도</c:v>
                </c:pt>
                <c:pt idx="2">
                  <c:v>광역시</c:v>
                </c:pt>
                <c:pt idx="3">
                  <c:v>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1415</c:v>
                </c:pt>
                <c:pt idx="1">
                  <c:v>853</c:v>
                </c:pt>
                <c:pt idx="2">
                  <c:v>993</c:v>
                </c:pt>
                <c:pt idx="3">
                  <c:v>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BD-4F8F-8B40-F41B7A8F6D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26"/>
        <c:holeSize val="51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117B709-1669-5E7B-A5D3-41AC48D9C8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366C29-2435-F322-1B88-D2E573356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01EF9-FD00-4CA5-BB42-424CB38FBA3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CE6271-5401-FF9D-6AE8-7721796DBC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DD9A0-2465-68DB-39D4-86AC80138A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DBA19-64B5-4DEF-86CE-6A91E1AFDF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2833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6028C-F8FD-461D-83D2-F79BE4105E32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23CDF-01C6-4652-BDEA-0CFD9CC7EC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9031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뇌종양 정의</a:t>
            </a:r>
            <a:endParaRPr lang="en-US" altLang="ko-KR" dirty="0"/>
          </a:p>
          <a:p>
            <a:r>
              <a:rPr lang="ko-KR" altLang="en-US" dirty="0"/>
              <a:t>뇌 조직에서 비정상적인 세포의 성장</a:t>
            </a:r>
            <a:endParaRPr lang="en-US" altLang="ko-KR" dirty="0"/>
          </a:p>
          <a:p>
            <a:r>
              <a:rPr lang="ko-KR" altLang="en-US" dirty="0"/>
              <a:t>뇌 조직의 크기를 감소시켜 뇌 신경망에 많은 손상을 일으켜 뇌의 활동을 방해한다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뇌종양 종류</a:t>
            </a:r>
            <a:endParaRPr lang="en-US" altLang="ko-KR" dirty="0"/>
          </a:p>
          <a:p>
            <a:r>
              <a:rPr lang="en-US" altLang="ko-KR" dirty="0"/>
              <a:t>Glioma : </a:t>
            </a:r>
            <a:r>
              <a:rPr lang="ko-KR" altLang="en-US" dirty="0" err="1"/>
              <a:t>신경아교종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신경아교</a:t>
            </a:r>
            <a:r>
              <a:rPr lang="ko-KR" altLang="en-US" dirty="0"/>
              <a:t> 조직과 척수 부위에서 자라는 종양</a:t>
            </a:r>
            <a:endParaRPr lang="en-US" altLang="ko-KR" dirty="0"/>
          </a:p>
          <a:p>
            <a:r>
              <a:rPr lang="en-US" altLang="ko-KR" dirty="0"/>
              <a:t>Meningioma : </a:t>
            </a:r>
            <a:r>
              <a:rPr lang="ko-KR" altLang="en-US" dirty="0" err="1"/>
              <a:t>수막종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뇌와 척수를 보호하는 막 부위에서 자라는 종양</a:t>
            </a:r>
            <a:endParaRPr lang="en-US" altLang="ko-KR" dirty="0"/>
          </a:p>
          <a:p>
            <a:r>
              <a:rPr lang="en-US" altLang="ko-KR" dirty="0"/>
              <a:t>Pituitary : </a:t>
            </a:r>
            <a:r>
              <a:rPr lang="ko-KR" altLang="en-US" dirty="0"/>
              <a:t>뇌하수체종 </a:t>
            </a:r>
            <a:r>
              <a:rPr lang="en-US" altLang="ko-KR" dirty="0"/>
              <a:t>– </a:t>
            </a:r>
            <a:r>
              <a:rPr lang="ko-KR" altLang="en-US" dirty="0"/>
              <a:t>뇌하수체에서 발생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국내 양성</a:t>
            </a:r>
            <a:r>
              <a:rPr lang="en-US" altLang="ko-KR" dirty="0"/>
              <a:t>/</a:t>
            </a:r>
            <a:r>
              <a:rPr lang="ko-KR" altLang="en-US" dirty="0"/>
              <a:t>악성 뇌종양으로 치료 받고 있는 환자수는 </a:t>
            </a:r>
            <a:r>
              <a:rPr lang="en-US" altLang="ko-KR" dirty="0"/>
              <a:t>2017</a:t>
            </a:r>
            <a:r>
              <a:rPr lang="ko-KR" altLang="en-US" dirty="0"/>
              <a:t>년 약 </a:t>
            </a:r>
            <a:r>
              <a:rPr lang="en-US" altLang="ko-KR" dirty="0"/>
              <a:t>4</a:t>
            </a:r>
            <a:r>
              <a:rPr lang="ko-KR" altLang="en-US" dirty="0"/>
              <a:t>만</a:t>
            </a:r>
            <a:r>
              <a:rPr lang="en-US" altLang="ko-KR" dirty="0"/>
              <a:t>9</a:t>
            </a:r>
            <a:r>
              <a:rPr lang="ko-KR" altLang="en-US" dirty="0"/>
              <a:t>천명에서 </a:t>
            </a:r>
            <a:r>
              <a:rPr lang="en-US" altLang="ko-KR" dirty="0"/>
              <a:t>2021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만 </a:t>
            </a:r>
            <a:r>
              <a:rPr lang="en-US" altLang="ko-KR" dirty="0"/>
              <a:t>3</a:t>
            </a:r>
            <a:r>
              <a:rPr lang="ko-KR" altLang="en-US" dirty="0"/>
              <a:t>천여명으로 증가 추세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한국 인구 </a:t>
            </a:r>
            <a:r>
              <a:rPr lang="ko-KR" altLang="en-US" dirty="0" err="1"/>
              <a:t>천명중에</a:t>
            </a:r>
            <a:r>
              <a:rPr lang="ko-KR" altLang="en-US" dirty="0"/>
              <a:t> </a:t>
            </a:r>
            <a:r>
              <a:rPr lang="ko-KR" altLang="en-US" dirty="0" err="1"/>
              <a:t>한명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952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https://www.medicaltimes.com/Main/News/NewsView.html?ID=1151642</a:t>
            </a:r>
          </a:p>
          <a:p>
            <a:r>
              <a:rPr lang="en-US" altLang="ko-KR" dirty="0"/>
              <a:t>CT,</a:t>
            </a:r>
            <a:r>
              <a:rPr lang="ko-KR" altLang="en-US" dirty="0"/>
              <a:t> </a:t>
            </a:r>
            <a:r>
              <a:rPr lang="en-US" altLang="ko-KR" dirty="0"/>
              <a:t>MRI</a:t>
            </a:r>
            <a:r>
              <a:rPr lang="ko-KR" altLang="en-US" dirty="0"/>
              <a:t> 같은 의료 영상 장비를 이용하여 진단하고</a:t>
            </a:r>
            <a:endParaRPr lang="en-US" altLang="ko-KR" dirty="0"/>
          </a:p>
          <a:p>
            <a:r>
              <a:rPr lang="ko-KR" altLang="en-US" dirty="0"/>
              <a:t>영상의학과 전문의의 진단이 필수적이다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전문의의 영상 판독에는 다소 시간이 걸리는 점이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전국 전문의 현황</a:t>
            </a:r>
            <a:endParaRPr lang="en-US" altLang="ko-KR" dirty="0"/>
          </a:p>
          <a:p>
            <a:r>
              <a:rPr lang="ko-KR" altLang="en-US" dirty="0"/>
              <a:t>서울에</a:t>
            </a:r>
            <a:r>
              <a:rPr lang="en-US" altLang="ko-KR" dirty="0"/>
              <a:t> 34%</a:t>
            </a:r>
            <a:r>
              <a:rPr lang="ko-KR" altLang="en-US" dirty="0"/>
              <a:t>이고 수도권에 </a:t>
            </a:r>
            <a:r>
              <a:rPr lang="en-US" altLang="ko-KR" dirty="0"/>
              <a:t>78% </a:t>
            </a:r>
            <a:r>
              <a:rPr lang="ko-KR" altLang="en-US" dirty="0" err="1"/>
              <a:t>집중되어있는</a:t>
            </a:r>
            <a:r>
              <a:rPr lang="ko-KR" altLang="en-US" dirty="0"/>
              <a:t> 현상</a:t>
            </a:r>
            <a:endParaRPr lang="en-US" altLang="ko-KR" dirty="0"/>
          </a:p>
          <a:p>
            <a:r>
              <a:rPr lang="ko-KR" altLang="en-US" dirty="0"/>
              <a:t>전문의의 </a:t>
            </a:r>
            <a:r>
              <a:rPr lang="ko-KR" altLang="en-US" dirty="0" err="1"/>
              <a:t>지역불균형으로인해</a:t>
            </a:r>
            <a:r>
              <a:rPr lang="ko-KR" altLang="en-US" dirty="0"/>
              <a:t> 지방 지역의 영상의학과 전문의의 부담이 늘고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인당 판독해야 하는 영상이 </a:t>
            </a:r>
            <a:r>
              <a:rPr lang="ko-KR" altLang="en-US" dirty="0" err="1"/>
              <a:t>많아짐에</a:t>
            </a:r>
            <a:r>
              <a:rPr lang="ko-KR" altLang="en-US" dirty="0"/>
              <a:t> 따라 오진 위험도도 증가한다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890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컴퓨터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보조진단 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: 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다양한 의료영상을 컴퓨터에 입력하여 병변을 검출하고 병변의 특성을 분석하는 기술로서 의사의 임상적 진단을 보조하는 기술</a:t>
            </a:r>
            <a:endParaRPr lang="en-US" altLang="ko-KR" sz="1800" b="0" i="0" dirty="0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근래에는 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AI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를 접목하여 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CAD system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을 개발</a:t>
            </a:r>
            <a:endParaRPr lang="en-US" altLang="ko-KR" sz="1800" b="0" i="0" dirty="0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최근에는 </a:t>
            </a:r>
            <a:r>
              <a:rPr lang="en-US" altLang="ko-KR" sz="1800" b="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ViT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모델을 사용하여 이미지 분석을 시도하는 연구가 많이 진행되었고</a:t>
            </a:r>
            <a:endParaRPr lang="en-US" altLang="ko-KR" sz="1800" b="0" i="0" dirty="0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2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건의 논문에서 </a:t>
            </a:r>
            <a:r>
              <a:rPr lang="en-US" altLang="ko-KR" sz="1800" b="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ViT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를 사용하여 이미지 </a:t>
            </a:r>
            <a:r>
              <a:rPr lang="ko-KR" altLang="en-US" sz="1800" b="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분류했을때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좋은 성능을 보인다는 연구결과도 있다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b="0" i="0" dirty="0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b="0" i="0" dirty="0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b="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xViTCOS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: Explainable Vision Transformer Based COVID-19 Screening Using Radiography</a:t>
            </a:r>
            <a:endParaRPr lang="en-US" altLang="ko-KR" dirty="0"/>
          </a:p>
          <a:p>
            <a:r>
              <a:rPr lang="en-US" altLang="ko-KR" dirty="0"/>
              <a:t>VISION TRANSFORMERS FOR CLASSIFICATION OF BREAST ULTRASOUND IMAGES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773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앞선 조사로 </a:t>
            </a:r>
            <a:r>
              <a:rPr lang="en-US" altLang="ko-KR" dirty="0" err="1"/>
              <a:t>ViT</a:t>
            </a:r>
            <a:r>
              <a:rPr lang="ko-KR" altLang="en-US" dirty="0"/>
              <a:t>를 사용한 뇌종양 이미지 분류 모델을 설계하여</a:t>
            </a:r>
            <a:endParaRPr lang="en-US" altLang="ko-KR" dirty="0"/>
          </a:p>
          <a:p>
            <a:r>
              <a:rPr lang="en-US" altLang="ko-KR" dirty="0" err="1"/>
              <a:t>ViT</a:t>
            </a:r>
            <a:r>
              <a:rPr lang="en-US" altLang="ko-KR" dirty="0"/>
              <a:t> </a:t>
            </a:r>
            <a:r>
              <a:rPr lang="ko-KR" altLang="en-US" dirty="0"/>
              <a:t>모델이 이미지 분류에 유용하게 사용할 수 있는지 검증하고</a:t>
            </a:r>
            <a:endParaRPr lang="en-US" altLang="ko-KR" dirty="0"/>
          </a:p>
          <a:p>
            <a:r>
              <a:rPr lang="ko-KR" altLang="en-US" dirty="0"/>
              <a:t>뇌종양 이미지를 잘 분류해내는지 분석할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4529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시상면</a:t>
            </a:r>
            <a:r>
              <a:rPr lang="en-US" altLang="ko-KR" dirty="0"/>
              <a:t>, </a:t>
            </a:r>
            <a:r>
              <a:rPr lang="ko-KR" altLang="en-US" dirty="0" err="1"/>
              <a:t>관상면</a:t>
            </a:r>
            <a:r>
              <a:rPr lang="ko-KR" altLang="en-US" dirty="0"/>
              <a:t> 횡단면</a:t>
            </a:r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en-US" altLang="ko-KR" dirty="0"/>
              <a:t>class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060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test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에 대한 </a:t>
            </a:r>
            <a:r>
              <a:rPr lang="en-US" altLang="ko-KR" dirty="0"/>
              <a:t>acc</a:t>
            </a:r>
            <a:r>
              <a:rPr lang="ko-KR" altLang="en-US" dirty="0"/>
              <a:t>가 </a:t>
            </a:r>
            <a:r>
              <a:rPr lang="en-US" altLang="ko-KR" dirty="0"/>
              <a:t>70%</a:t>
            </a:r>
            <a:r>
              <a:rPr lang="ko-KR" altLang="en-US" dirty="0"/>
              <a:t>로 많이 높지는 않지만 어느정도 좋은 결과를 보인다</a:t>
            </a:r>
            <a:endParaRPr lang="en-US" altLang="ko-KR" dirty="0"/>
          </a:p>
          <a:p>
            <a:r>
              <a:rPr lang="en-US" altLang="ko-KR" dirty="0"/>
              <a:t>glioma, no tumor</a:t>
            </a:r>
            <a:r>
              <a:rPr lang="ko-KR" altLang="en-US" dirty="0"/>
              <a:t>는 정확히 분류할 수 있음</a:t>
            </a:r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en-US" altLang="ko-KR" dirty="0"/>
              <a:t>meningioma, pituitary</a:t>
            </a:r>
            <a:r>
              <a:rPr lang="ko-KR" altLang="en-US" dirty="0"/>
              <a:t>에서는 현저한 성능을 보이는데</a:t>
            </a:r>
            <a:endParaRPr lang="en-US" altLang="ko-KR" dirty="0"/>
          </a:p>
          <a:p>
            <a:r>
              <a:rPr lang="ko-KR" altLang="en-US" dirty="0"/>
              <a:t>이는 이미지를 </a:t>
            </a:r>
            <a:r>
              <a:rPr lang="en-US" altLang="ko-KR" dirty="0"/>
              <a:t>patch </a:t>
            </a:r>
            <a:r>
              <a:rPr lang="ko-KR" altLang="en-US" dirty="0"/>
              <a:t>단위로 나누게 되면서 전체 형태학적 특징을 보지 못한다는 점과</a:t>
            </a:r>
            <a:endParaRPr lang="en-US" altLang="ko-KR" dirty="0"/>
          </a:p>
          <a:p>
            <a:r>
              <a:rPr lang="en-US" altLang="ko-KR" dirty="0"/>
              <a:t>Transformer encode</a:t>
            </a:r>
            <a:r>
              <a:rPr lang="ko-KR" altLang="en-US" dirty="0"/>
              <a:t>를 </a:t>
            </a:r>
            <a:r>
              <a:rPr lang="en-US" altLang="ko-KR" dirty="0"/>
              <a:t>3</a:t>
            </a:r>
            <a:r>
              <a:rPr lang="ko-KR" altLang="en-US" dirty="0"/>
              <a:t>회 수행하였기 때문에 </a:t>
            </a:r>
            <a:r>
              <a:rPr lang="en-US" altLang="ko-KR" dirty="0"/>
              <a:t>sequence </a:t>
            </a:r>
            <a:r>
              <a:rPr lang="ko-KR" altLang="en-US" dirty="0"/>
              <a:t>간의 정보가 덜 섞였다는 원인으로 해석하였다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4115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텍스트 개체 틀 86">
            <a:extLst>
              <a:ext uri="{FF2B5EF4-FFF2-40B4-BE49-F238E27FC236}">
                <a16:creationId xmlns:a16="http://schemas.microsoft.com/office/drawing/2014/main" id="{EF6A11A7-9272-D7FD-BCA3-AE5186BC862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3557987" y="1360075"/>
            <a:ext cx="7867664" cy="156448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3600">
                <a:solidFill>
                  <a:srgbClr val="38768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88" name="텍스트 개체 틀 86">
            <a:extLst>
              <a:ext uri="{FF2B5EF4-FFF2-40B4-BE49-F238E27FC236}">
                <a16:creationId xmlns:a16="http://schemas.microsoft.com/office/drawing/2014/main" id="{75B39A1B-186A-77F2-BDEF-DB9744820CC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6454901" y="2924555"/>
            <a:ext cx="4970751" cy="156448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7850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48">
            <a:extLst>
              <a:ext uri="{FF2B5EF4-FFF2-40B4-BE49-F238E27FC236}">
                <a16:creationId xmlns:a16="http://schemas.microsoft.com/office/drawing/2014/main" id="{6C9267C3-CC98-99A4-6849-787585307A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2211" y="1014729"/>
            <a:ext cx="10407449" cy="5609909"/>
          </a:xfrm>
        </p:spPr>
        <p:txBody>
          <a:bodyPr>
            <a:noAutofit/>
          </a:bodyPr>
          <a:lstStyle>
            <a:lvl1pPr marL="457200" indent="-457200" latinLnBrk="0">
              <a:lnSpc>
                <a:spcPct val="250000"/>
              </a:lnSpc>
              <a:buFont typeface="+mj-lt"/>
              <a:buAutoNum type="arabicPeriod"/>
              <a:defRPr sz="2400" b="1">
                <a:solidFill>
                  <a:srgbClr val="22474E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  <a:lvl2pPr marL="457200" indent="0">
              <a:buNone/>
              <a:defRPr>
                <a:solidFill>
                  <a:srgbClr val="333A32"/>
                </a:solidFill>
              </a:defRPr>
            </a:lvl2pPr>
            <a:lvl3pPr marL="914400" indent="0">
              <a:buNone/>
              <a:defRPr>
                <a:solidFill>
                  <a:srgbClr val="333A32"/>
                </a:solidFill>
              </a:defRPr>
            </a:lvl3pPr>
            <a:lvl4pPr marL="1371600" indent="0">
              <a:buNone/>
              <a:defRPr>
                <a:solidFill>
                  <a:srgbClr val="333A32"/>
                </a:solidFill>
              </a:defRPr>
            </a:lvl4pPr>
            <a:lvl5pPr marL="1828800" indent="0">
              <a:buNone/>
              <a:defRPr>
                <a:solidFill>
                  <a:srgbClr val="333A32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0"/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.</a:t>
            </a:r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2B0AD-E82A-4C83-1B55-1D6D376084EF}"/>
              </a:ext>
            </a:extLst>
          </p:cNvPr>
          <p:cNvSpPr txBox="1"/>
          <p:nvPr userDrawn="1"/>
        </p:nvSpPr>
        <p:spPr>
          <a:xfrm>
            <a:off x="244669" y="341812"/>
            <a:ext cx="954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22474E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83599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주제용 중간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B7CC94E-C2F0-87CA-C91C-AC3EFB7E57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3533" y="2994026"/>
            <a:ext cx="7416800" cy="2720975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600">
                <a:solidFill>
                  <a:srgbClr val="95BDBA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4" name="텍스트 개체 틀 86">
            <a:extLst>
              <a:ext uri="{FF2B5EF4-FFF2-40B4-BE49-F238E27FC236}">
                <a16:creationId xmlns:a16="http://schemas.microsoft.com/office/drawing/2014/main" id="{5F4C7F04-0889-1A81-025C-4B279124F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3533" y="2176354"/>
            <a:ext cx="7867664" cy="817167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3600">
                <a:solidFill>
                  <a:srgbClr val="22474E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8EA85B6-ECB8-DAAA-CF3F-5F17402241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099" y="1295401"/>
            <a:ext cx="1111251" cy="698499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22474E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1315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22A09858-9A90-FE3D-191F-B6A81201809E}"/>
              </a:ext>
            </a:extLst>
          </p:cNvPr>
          <p:cNvSpPr/>
          <p:nvPr userDrawn="1"/>
        </p:nvSpPr>
        <p:spPr>
          <a:xfrm>
            <a:off x="-5778" y="425100"/>
            <a:ext cx="10737279" cy="408405"/>
          </a:xfrm>
          <a:prstGeom prst="homePlate">
            <a:avLst/>
          </a:prstGeom>
          <a:pattFill prst="pct60">
            <a:fgClr>
              <a:srgbClr val="22474E"/>
            </a:fgClr>
            <a:bgClr>
              <a:srgbClr val="38768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텍스트 개체 틀 7">
            <a:extLst>
              <a:ext uri="{FF2B5EF4-FFF2-40B4-BE49-F238E27FC236}">
                <a16:creationId xmlns:a16="http://schemas.microsoft.com/office/drawing/2014/main" id="{5D7756BD-C5D8-E3B5-EA02-2426149921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899" y="462696"/>
            <a:ext cx="9556751" cy="37080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0" name="텍스트 개체 틀 6">
            <a:extLst>
              <a:ext uri="{FF2B5EF4-FFF2-40B4-BE49-F238E27FC236}">
                <a16:creationId xmlns:a16="http://schemas.microsoft.com/office/drawing/2014/main" id="{5060F4DF-6949-788D-8DE5-E8BB2793A3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493660"/>
          </a:xfrm>
        </p:spPr>
        <p:txBody>
          <a:bodyPr/>
          <a:lstStyle>
            <a:lvl1pPr marL="162000" indent="-189000" latinLnBrk="0">
              <a:lnSpc>
                <a:spcPct val="150000"/>
              </a:lnSpc>
              <a:buSzPct val="75000"/>
              <a:buFontTx/>
              <a:buBlip>
                <a:blip r:embed="rId2"/>
              </a:buBlip>
              <a:defRPr sz="2000" b="1">
                <a:solidFill>
                  <a:srgbClr val="333A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  <a:lvl2pPr marL="351000" indent="-135000" latinLnBrk="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2pPr>
            <a:lvl3pPr marL="567000" indent="-189000" latinLnBrk="0">
              <a:lnSpc>
                <a:spcPct val="100000"/>
              </a:lnSpc>
              <a:buSzPct val="105000"/>
              <a:buFont typeface="맑은 고딕" panose="020B0503020000020004" pitchFamily="50" charset="-127"/>
              <a:buChar char="→"/>
              <a:defRPr sz="1400">
                <a:solidFill>
                  <a:srgbClr val="387682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3pPr>
            <a:lvl4pPr marL="675000" indent="-108000" latinLnBrk="0">
              <a:buSzPct val="90000"/>
              <a:buFont typeface="맑은 고딕" panose="020B0503020000020004" pitchFamily="50" charset="-127"/>
              <a:buChar char="-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4pPr>
            <a:lvl5pPr marL="13716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r>
              <a:rPr lang="ko-KR" altLang="en-US" dirty="0"/>
              <a:t>네 번째 수준</a:t>
            </a:r>
          </a:p>
        </p:txBody>
      </p:sp>
      <p:pic>
        <p:nvPicPr>
          <p:cNvPr id="2" name="그래픽 1" descr="전구">
            <a:extLst>
              <a:ext uri="{FF2B5EF4-FFF2-40B4-BE49-F238E27FC236}">
                <a16:creationId xmlns:a16="http://schemas.microsoft.com/office/drawing/2014/main" id="{8DF302CF-7E39-0476-8709-F76666ED5D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043" y="462696"/>
            <a:ext cx="333871" cy="33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7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6">
            <a:extLst>
              <a:ext uri="{FF2B5EF4-FFF2-40B4-BE49-F238E27FC236}">
                <a16:creationId xmlns:a16="http://schemas.microsoft.com/office/drawing/2014/main" id="{5060F4DF-6949-788D-8DE5-E8BB2793A3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688709"/>
            <a:ext cx="11353612" cy="5493660"/>
          </a:xfrm>
        </p:spPr>
        <p:txBody>
          <a:bodyPr/>
          <a:lstStyle>
            <a:lvl1pPr marL="162000" indent="-189000" latinLnBrk="0">
              <a:lnSpc>
                <a:spcPct val="150000"/>
              </a:lnSpc>
              <a:buSzPct val="75000"/>
              <a:buFontTx/>
              <a:buBlip>
                <a:blip r:embed="rId2"/>
              </a:buBlip>
              <a:defRPr sz="2000" b="1">
                <a:solidFill>
                  <a:srgbClr val="333A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  <a:lvl2pPr marL="351000" indent="-135000" latinLnBrk="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2pPr>
            <a:lvl3pPr marL="567000" indent="-189000" latinLnBrk="0">
              <a:lnSpc>
                <a:spcPct val="100000"/>
              </a:lnSpc>
              <a:buSzPct val="105000"/>
              <a:buFont typeface="맑은 고딕" panose="020B0503020000020004" pitchFamily="50" charset="-127"/>
              <a:buChar char="→"/>
              <a:defRPr sz="1400">
                <a:solidFill>
                  <a:srgbClr val="387682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3pPr>
            <a:lvl4pPr marL="675000" indent="-108000" latinLnBrk="0">
              <a:buSzPct val="90000"/>
              <a:buFont typeface="맑은 고딕" panose="020B0503020000020004" pitchFamily="50" charset="-127"/>
              <a:buChar char="-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defRPr>
            </a:lvl4pPr>
            <a:lvl5pPr marL="13716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r>
              <a:rPr lang="ko-KR" altLang="en-US" dirty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36097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56DCD4D-243C-D7C0-A757-A9D772D9FB6A}"/>
              </a:ext>
            </a:extLst>
          </p:cNvPr>
          <p:cNvSpPr txBox="1"/>
          <p:nvPr userDrawn="1"/>
        </p:nvSpPr>
        <p:spPr>
          <a:xfrm>
            <a:off x="3053080" y="2025660"/>
            <a:ext cx="608584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kern="1200" dirty="0">
                <a:solidFill>
                  <a:srgbClr val="22474E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n-cs"/>
              </a:rPr>
              <a:t>감사합니다</a:t>
            </a:r>
            <a:r>
              <a:rPr lang="en-US" altLang="ko-KR" sz="4800" kern="1200" dirty="0">
                <a:solidFill>
                  <a:srgbClr val="22474E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n-cs"/>
              </a:rPr>
              <a:t>!</a:t>
            </a:r>
          </a:p>
          <a:p>
            <a:pPr algn="ctr"/>
            <a:endParaRPr lang="en-US" altLang="ko-KR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endParaRPr lang="en-US" altLang="ko-KR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endParaRPr lang="en-US" altLang="ko-KR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4000" dirty="0">
                <a:solidFill>
                  <a:srgbClr val="76AD98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Q&amp;A</a:t>
            </a:r>
            <a:endParaRPr lang="ko-KR" altLang="en-US" sz="4000" dirty="0">
              <a:solidFill>
                <a:srgbClr val="76AD98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131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30639-1650-4561-B690-1F558DB8A5D9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ACFE7-58C4-47D0-A75F-F8C15DD41B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29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4" r:id="rId5"/>
    <p:sldLayoutId id="2147483683" r:id="rId6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060389F-1CC4-38CE-0703-30A434B2A9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7195" y="1272523"/>
            <a:ext cx="7198456" cy="133830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ko-KR" dirty="0"/>
              <a:t>Development of Brain Tumor Classification Model Using </a:t>
            </a:r>
            <a:r>
              <a:rPr lang="en-US" altLang="ko-KR" dirty="0" err="1"/>
              <a:t>ViT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AE73BC-FBB1-80B0-4249-1089298A37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4901" y="2837003"/>
            <a:ext cx="4970751" cy="1564480"/>
          </a:xfrm>
        </p:spPr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연구원 곽도현</a:t>
            </a:r>
          </a:p>
        </p:txBody>
      </p:sp>
    </p:spTree>
    <p:extLst>
      <p:ext uri="{BB962C8B-B14F-4D97-AF65-F5344CB8AC3E}">
        <p14:creationId xmlns:p14="http://schemas.microsoft.com/office/powerpoint/2010/main" val="830545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032B2F-8913-2C73-82C4-B0E51266A7B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</a:p>
          <a:p>
            <a:r>
              <a:rPr lang="en-US" altLang="ko-KR" dirty="0"/>
              <a:t>Methods</a:t>
            </a:r>
          </a:p>
          <a:p>
            <a:r>
              <a:rPr lang="en-US" altLang="ko-KR" dirty="0"/>
              <a:t>Results</a:t>
            </a:r>
          </a:p>
          <a:p>
            <a:r>
              <a:rPr lang="en-US" altLang="ko-KR" dirty="0"/>
              <a:t>Discussion &amp; 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3649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0DE5527-34F4-C151-951A-147F1DFBC6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11A055-D2D5-754A-E285-031ECEE82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190C2F-2E8C-DDA0-E5C6-210B91358C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524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A24DDAB-4EA2-4DE9-93A4-75BB75109FCA}"/>
              </a:ext>
            </a:extLst>
          </p:cNvPr>
          <p:cNvSpPr/>
          <p:nvPr/>
        </p:nvSpPr>
        <p:spPr>
          <a:xfrm>
            <a:off x="7297572" y="3398544"/>
            <a:ext cx="3761545" cy="2827157"/>
          </a:xfrm>
          <a:prstGeom prst="roundRect">
            <a:avLst>
              <a:gd name="adj" fmla="val 13437"/>
            </a:avLst>
          </a:prstGeom>
          <a:noFill/>
          <a:ln w="38100">
            <a:solidFill>
              <a:srgbClr val="2247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Definition of Brain Tumor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599" y="1715650"/>
            <a:ext cx="10006385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Growth of Abnormal Cells in Tissues of Brain</a:t>
            </a:r>
          </a:p>
          <a:p>
            <a:pPr marL="285750" indent="-285750">
              <a:spcAft>
                <a:spcPts val="1000"/>
              </a:spcAft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Leads to Mass Damage to Neural Network of Brain 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4440BC86-7EA5-439A-A495-E8AD6121BFA8}"/>
              </a:ext>
            </a:extLst>
          </p:cNvPr>
          <p:cNvSpPr txBox="1">
            <a:spLocks/>
          </p:cNvSpPr>
          <p:nvPr/>
        </p:nvSpPr>
        <p:spPr>
          <a:xfrm>
            <a:off x="425043" y="2970069"/>
            <a:ext cx="6448534" cy="562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2000" indent="-189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75000"/>
              <a:buFontTx/>
              <a:buBlip>
                <a:blip r:embed="rId3"/>
              </a:buBlip>
              <a:defRPr sz="2000" b="1" kern="1200">
                <a:solidFill>
                  <a:srgbClr val="333A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1pPr>
            <a:lvl2pPr marL="351000" indent="-135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2pPr>
            <a:lvl3pPr marL="567000" indent="-189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5000"/>
              <a:buFont typeface="맑은 고딕" panose="020B0503020000020004" pitchFamily="50" charset="-127"/>
              <a:buChar char="→"/>
              <a:defRPr sz="1400" kern="1200">
                <a:solidFill>
                  <a:srgbClr val="387682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675000" indent="-10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맑은 고딕" panose="020B0503020000020004" pitchFamily="50" charset="-127"/>
              <a:buChar char="-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Type of Brain Tumor &amp; Number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patients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B6E9FC-059A-41D6-8455-F89FD0437DEB}"/>
              </a:ext>
            </a:extLst>
          </p:cNvPr>
          <p:cNvSpPr txBox="1"/>
          <p:nvPr/>
        </p:nvSpPr>
        <p:spPr>
          <a:xfrm>
            <a:off x="1132883" y="5727290"/>
            <a:ext cx="46795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3 Types of Tumors Mainly Occur</a:t>
            </a:r>
            <a:endParaRPr lang="ko-KR" altLang="en-US" sz="15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4AEABE2-C4AF-4066-B041-3B3DFFC27D3A}"/>
              </a:ext>
            </a:extLst>
          </p:cNvPr>
          <p:cNvGrpSpPr/>
          <p:nvPr/>
        </p:nvGrpSpPr>
        <p:grpSpPr>
          <a:xfrm>
            <a:off x="7580914" y="3110441"/>
            <a:ext cx="3194860" cy="603951"/>
            <a:chOff x="7287930" y="1768914"/>
            <a:chExt cx="3819713" cy="851263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F9E3E6F-FE67-41B4-B26C-DD5ACA481897}"/>
                </a:ext>
              </a:extLst>
            </p:cNvPr>
            <p:cNvSpPr/>
            <p:nvPr/>
          </p:nvSpPr>
          <p:spPr>
            <a:xfrm>
              <a:off x="7371888" y="1768914"/>
              <a:ext cx="3651796" cy="851263"/>
            </a:xfrm>
            <a:prstGeom prst="roundRect">
              <a:avLst/>
            </a:prstGeom>
            <a:solidFill>
              <a:srgbClr val="3876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7D054A-FA57-4A2B-95D2-6AE613E2F68E}"/>
                </a:ext>
              </a:extLst>
            </p:cNvPr>
            <p:cNvSpPr txBox="1"/>
            <p:nvPr/>
          </p:nvSpPr>
          <p:spPr>
            <a:xfrm>
              <a:off x="7287930" y="1834505"/>
              <a:ext cx="3819713" cy="737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Patients Treated for </a:t>
              </a:r>
              <a:r>
                <a:rPr lang="en-US" altLang="ko-KR" sz="1400" dirty="0" err="1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Benign·Malignant</a:t>
              </a:r>
              <a:r>
                <a:rPr lang="en-US" altLang="ko-KR" sz="14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Brain Tumor</a:t>
              </a:r>
              <a:endParaRPr lang="ko-KR" altLang="en-US" sz="14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aphicFrame>
        <p:nvGraphicFramePr>
          <p:cNvPr id="24" name="차트 23">
            <a:extLst>
              <a:ext uri="{FF2B5EF4-FFF2-40B4-BE49-F238E27FC236}">
                <a16:creationId xmlns:a16="http://schemas.microsoft.com/office/drawing/2014/main" id="{34536F89-EB6A-4CEF-A732-2A3C48ACBD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6193466"/>
              </p:ext>
            </p:extLst>
          </p:nvPr>
        </p:nvGraphicFramePr>
        <p:xfrm>
          <a:off x="7740704" y="3787549"/>
          <a:ext cx="2875280" cy="2364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5E3E490B-1ADE-462C-8FB8-0C1E25C3ACDB}"/>
              </a:ext>
            </a:extLst>
          </p:cNvPr>
          <p:cNvSpPr txBox="1"/>
          <p:nvPr/>
        </p:nvSpPr>
        <p:spPr>
          <a:xfrm>
            <a:off x="8183837" y="6251825"/>
            <a:ext cx="28752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출처</a:t>
            </a:r>
            <a:r>
              <a:rPr lang="en-US" altLang="ko-KR" sz="8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: </a:t>
            </a:r>
            <a:r>
              <a:rPr lang="ko-KR" altLang="en-US" sz="8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건강보험심사평가원 통계</a:t>
            </a:r>
            <a:r>
              <a:rPr lang="en-US" altLang="ko-KR" sz="8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2021</a:t>
            </a:r>
            <a:endParaRPr lang="en-US" altLang="ko-KR" sz="8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5E43F46-6D4B-46FC-BEBC-DE3AB98689BA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32883" y="3675290"/>
            <a:ext cx="5407200" cy="205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D7BD4B-7718-5FB3-406E-0AE0245ACBE3}"/>
              </a:ext>
            </a:extLst>
          </p:cNvPr>
          <p:cNvSpPr txBox="1"/>
          <p:nvPr/>
        </p:nvSpPr>
        <p:spPr>
          <a:xfrm>
            <a:off x="876415" y="2490221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→ Disrupts Work of Brain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7200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Diagnosis of Brain Tumor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E4B45-3628-4752-A9A9-662669330CC4}"/>
              </a:ext>
            </a:extLst>
          </p:cNvPr>
          <p:cNvSpPr txBox="1"/>
          <p:nvPr/>
        </p:nvSpPr>
        <p:spPr>
          <a:xfrm>
            <a:off x="609600" y="1715650"/>
            <a:ext cx="10704394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Using Medical Image Equipment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(CT,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MRI, PET)</a:t>
            </a:r>
          </a:p>
          <a:p>
            <a:pPr marL="285750" indent="-285750">
              <a:spcAft>
                <a:spcPts val="1000"/>
              </a:spcAft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Manual Classification by Radiology Specialists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0BD8C-1D85-456E-B6FF-5E9A8B689957}"/>
              </a:ext>
            </a:extLst>
          </p:cNvPr>
          <p:cNvSpPr txBox="1"/>
          <p:nvPr/>
        </p:nvSpPr>
        <p:spPr>
          <a:xfrm>
            <a:off x="1602104" y="2555502"/>
            <a:ext cx="7315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Time-consuming to Manual Classification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60A6473-DA93-4450-B54A-F048EECFDB28}"/>
              </a:ext>
            </a:extLst>
          </p:cNvPr>
          <p:cNvSpPr/>
          <p:nvPr/>
        </p:nvSpPr>
        <p:spPr>
          <a:xfrm>
            <a:off x="1014916" y="2574321"/>
            <a:ext cx="475129" cy="331694"/>
          </a:xfrm>
          <a:prstGeom prst="rightArrow">
            <a:avLst/>
          </a:prstGeom>
          <a:solidFill>
            <a:srgbClr val="387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802DC578-3A06-4A49-BA12-6B84B4459A3A}"/>
              </a:ext>
            </a:extLst>
          </p:cNvPr>
          <p:cNvSpPr txBox="1">
            <a:spLocks/>
          </p:cNvSpPr>
          <p:nvPr/>
        </p:nvSpPr>
        <p:spPr>
          <a:xfrm>
            <a:off x="419194" y="2970000"/>
            <a:ext cx="4288993" cy="562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2000" indent="-189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75000"/>
              <a:buFontTx/>
              <a:buBlip>
                <a:blip r:embed="rId3"/>
              </a:buBlip>
              <a:defRPr sz="2000" b="1" kern="1200">
                <a:solidFill>
                  <a:srgbClr val="333A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1pPr>
            <a:lvl2pPr marL="351000" indent="-135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2pPr>
            <a:lvl3pPr marL="567000" indent="-189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5000"/>
              <a:buFont typeface="맑은 고딕" panose="020B0503020000020004" pitchFamily="50" charset="-127"/>
              <a:buChar char="→"/>
              <a:defRPr sz="1400" kern="1200">
                <a:solidFill>
                  <a:srgbClr val="387682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675000" indent="-10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맑은 고딕" panose="020B0503020000020004" pitchFamily="50" charset="-127"/>
              <a:buChar char="-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Radiology Specialists Status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218A231-AB9C-4FDE-AAC8-BBBE89D4C08C}"/>
              </a:ext>
            </a:extLst>
          </p:cNvPr>
          <p:cNvGrpSpPr/>
          <p:nvPr/>
        </p:nvGrpSpPr>
        <p:grpSpPr>
          <a:xfrm>
            <a:off x="1774760" y="3664786"/>
            <a:ext cx="3361178" cy="2664191"/>
            <a:chOff x="1116206" y="3782825"/>
            <a:chExt cx="3361178" cy="2664191"/>
          </a:xfrm>
        </p:grpSpPr>
        <p:graphicFrame>
          <p:nvGraphicFramePr>
            <p:cNvPr id="16" name="차트 15">
              <a:extLst>
                <a:ext uri="{FF2B5EF4-FFF2-40B4-BE49-F238E27FC236}">
                  <a16:creationId xmlns:a16="http://schemas.microsoft.com/office/drawing/2014/main" id="{DBCD81A8-DF3C-4D69-B08C-6471DBFF27C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84965515"/>
                </p:ext>
              </p:extLst>
            </p:nvPr>
          </p:nvGraphicFramePr>
          <p:xfrm>
            <a:off x="1277853" y="4056776"/>
            <a:ext cx="3037881" cy="221947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87F831B-D289-4E2D-A075-B76D333B512B}"/>
                </a:ext>
              </a:extLst>
            </p:cNvPr>
            <p:cNvSpPr txBox="1"/>
            <p:nvPr/>
          </p:nvSpPr>
          <p:spPr>
            <a:xfrm>
              <a:off x="1602104" y="6231572"/>
              <a:ext cx="28752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출처</a:t>
              </a:r>
              <a:r>
                <a:rPr lang="en-US" altLang="ko-KR" sz="80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: </a:t>
              </a:r>
              <a:r>
                <a:rPr lang="ko-KR" altLang="en-US" sz="80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국민건강보험공단 건강보험통계</a:t>
              </a:r>
              <a:r>
                <a:rPr lang="en-US" altLang="ko-KR" sz="800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2022</a:t>
              </a:r>
              <a:endParaRPr lang="en-US" altLang="ko-KR" sz="800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8C115BF-21A9-4F4A-88A2-7EFBBAC30825}"/>
                </a:ext>
              </a:extLst>
            </p:cNvPr>
            <p:cNvSpPr/>
            <p:nvPr/>
          </p:nvSpPr>
          <p:spPr>
            <a:xfrm>
              <a:off x="1116206" y="3975911"/>
              <a:ext cx="3361178" cy="2219475"/>
            </a:xfrm>
            <a:prstGeom prst="roundRect">
              <a:avLst>
                <a:gd name="adj" fmla="val 13437"/>
              </a:avLst>
            </a:prstGeom>
            <a:noFill/>
            <a:ln w="38100">
              <a:solidFill>
                <a:srgbClr val="2247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2FF9EC4-B40D-4A31-B2F3-4886E5D442BF}"/>
                </a:ext>
              </a:extLst>
            </p:cNvPr>
            <p:cNvGrpSpPr/>
            <p:nvPr/>
          </p:nvGrpSpPr>
          <p:grpSpPr>
            <a:xfrm>
              <a:off x="1352674" y="3782825"/>
              <a:ext cx="2888237" cy="399107"/>
              <a:chOff x="7660015" y="2057640"/>
              <a:chExt cx="3453122" cy="562537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1DD31C02-F0EE-485C-BE85-F448F6721660}"/>
                  </a:ext>
                </a:extLst>
              </p:cNvPr>
              <p:cNvSpPr/>
              <p:nvPr/>
            </p:nvSpPr>
            <p:spPr>
              <a:xfrm>
                <a:off x="7749472" y="2057640"/>
                <a:ext cx="3274213" cy="562537"/>
              </a:xfrm>
              <a:prstGeom prst="roundRect">
                <a:avLst/>
              </a:prstGeom>
              <a:solidFill>
                <a:srgbClr val="3876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B1C482F-4E09-48A3-8EFA-698E906732E6}"/>
                  </a:ext>
                </a:extLst>
              </p:cNvPr>
              <p:cNvSpPr txBox="1"/>
              <p:nvPr/>
            </p:nvSpPr>
            <p:spPr>
              <a:xfrm>
                <a:off x="7660015" y="2122003"/>
                <a:ext cx="3453122" cy="433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bg1"/>
                    </a:solidFill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Radiology Specialists by Region</a:t>
                </a:r>
                <a:endParaRPr lang="ko-KR" altLang="en-US" sz="14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</p:grp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5A8BFB0-4F0E-40BA-91FD-3F318BAEBF15}"/>
              </a:ext>
            </a:extLst>
          </p:cNvPr>
          <p:cNvGrpSpPr/>
          <p:nvPr/>
        </p:nvGrpSpPr>
        <p:grpSpPr>
          <a:xfrm>
            <a:off x="6070744" y="3970783"/>
            <a:ext cx="4153998" cy="1990570"/>
            <a:chOff x="6279474" y="3653718"/>
            <a:chExt cx="4153998" cy="1990570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84AEFF0-51CE-441F-92E4-2261EC7E6EC6}"/>
                </a:ext>
              </a:extLst>
            </p:cNvPr>
            <p:cNvSpPr/>
            <p:nvPr/>
          </p:nvSpPr>
          <p:spPr>
            <a:xfrm>
              <a:off x="6493771" y="5094562"/>
              <a:ext cx="3725405" cy="549726"/>
            </a:xfrm>
            <a:prstGeom prst="rect">
              <a:avLst/>
            </a:prstGeom>
            <a:solidFill>
              <a:srgbClr val="81B1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설명선: 아래쪽 화살표 34">
              <a:extLst>
                <a:ext uri="{FF2B5EF4-FFF2-40B4-BE49-F238E27FC236}">
                  <a16:creationId xmlns:a16="http://schemas.microsoft.com/office/drawing/2014/main" id="{BF664830-17F1-4F23-8454-5791B062F08A}"/>
                </a:ext>
              </a:extLst>
            </p:cNvPr>
            <p:cNvSpPr/>
            <p:nvPr/>
          </p:nvSpPr>
          <p:spPr>
            <a:xfrm>
              <a:off x="6493771" y="4277694"/>
              <a:ext cx="3725405" cy="879477"/>
            </a:xfrm>
            <a:prstGeom prst="downArrowCallout">
              <a:avLst>
                <a:gd name="adj1" fmla="val 120468"/>
                <a:gd name="adj2" fmla="val 82692"/>
                <a:gd name="adj3" fmla="val 22817"/>
                <a:gd name="adj4" fmla="val 78217"/>
              </a:avLst>
            </a:prstGeom>
            <a:solidFill>
              <a:srgbClr val="3876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C156013-9A82-4152-8F60-A38FCCFF80C2}"/>
                </a:ext>
              </a:extLst>
            </p:cNvPr>
            <p:cNvSpPr txBox="1"/>
            <p:nvPr/>
          </p:nvSpPr>
          <p:spPr>
            <a:xfrm>
              <a:off x="6765237" y="5203289"/>
              <a:ext cx="318247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altLang="ko-KR" sz="1500" dirty="0">
                  <a:solidFill>
                    <a:schemeClr val="bg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Increased</a:t>
              </a:r>
              <a:r>
                <a:rPr lang="ko-KR" altLang="en-US" sz="1500" dirty="0">
                  <a:solidFill>
                    <a:schemeClr val="bg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lang="en-US" altLang="ko-KR" sz="1500" dirty="0">
                  <a:solidFill>
                    <a:schemeClr val="bg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Risk of Misdiagnosis</a:t>
              </a:r>
              <a:endParaRPr lang="ko-KR" altLang="en-US" sz="15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34" name="설명선: 아래쪽 화살표 33">
              <a:extLst>
                <a:ext uri="{FF2B5EF4-FFF2-40B4-BE49-F238E27FC236}">
                  <a16:creationId xmlns:a16="http://schemas.microsoft.com/office/drawing/2014/main" id="{0AA0D8CB-AEB3-4CA9-B80E-D885D7DF2AA1}"/>
                </a:ext>
              </a:extLst>
            </p:cNvPr>
            <p:cNvSpPr/>
            <p:nvPr/>
          </p:nvSpPr>
          <p:spPr>
            <a:xfrm>
              <a:off x="6493771" y="3653718"/>
              <a:ext cx="3725405" cy="709826"/>
            </a:xfrm>
            <a:prstGeom prst="downArrowCallout">
              <a:avLst>
                <a:gd name="adj1" fmla="val 165658"/>
                <a:gd name="adj2" fmla="val 106292"/>
                <a:gd name="adj3" fmla="val 28195"/>
                <a:gd name="adj4" fmla="val 71805"/>
              </a:avLst>
            </a:prstGeom>
            <a:solidFill>
              <a:srgbClr val="224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B6919D-C225-4CF0-9221-9ECA4808184C}"/>
                </a:ext>
              </a:extLst>
            </p:cNvPr>
            <p:cNvSpPr txBox="1"/>
            <p:nvPr/>
          </p:nvSpPr>
          <p:spPr>
            <a:xfrm>
              <a:off x="6279474" y="3746889"/>
              <a:ext cx="415399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altLang="ko-KR" sz="1500" dirty="0">
                  <a:solidFill>
                    <a:schemeClr val="bg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Concentration in Capital Region</a:t>
              </a:r>
              <a:endParaRPr lang="ko-KR" altLang="en-US" sz="15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BA723D-F83B-4318-A467-B1EDD058AA54}"/>
                </a:ext>
              </a:extLst>
            </p:cNvPr>
            <p:cNvSpPr txBox="1"/>
            <p:nvPr/>
          </p:nvSpPr>
          <p:spPr>
            <a:xfrm>
              <a:off x="6557341" y="4363543"/>
              <a:ext cx="359826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Burden of Radiology Specialists </a:t>
              </a:r>
            </a:p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outside Capital Region</a:t>
              </a:r>
              <a:endParaRPr lang="ko-KR" altLang="en-US" sz="15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43F034C-767F-AED1-D531-FE6822092E1E}"/>
              </a:ext>
            </a:extLst>
          </p:cNvPr>
          <p:cNvGrpSpPr/>
          <p:nvPr/>
        </p:nvGrpSpPr>
        <p:grpSpPr>
          <a:xfrm>
            <a:off x="10074016" y="5083711"/>
            <a:ext cx="861978" cy="1029822"/>
            <a:chOff x="10074016" y="4998962"/>
            <a:chExt cx="861978" cy="102982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59CC8BA-840D-E4FF-926F-30E0B37E8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4016" y="5090121"/>
              <a:ext cx="769116" cy="93866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4F0B73B-EF5E-2352-6284-2AEE90159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50269" y="4998962"/>
              <a:ext cx="185725" cy="1823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200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Computed-Aided Diagnosis (CAD)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For Reducing Radiology Specialist’s Burden, Support Manual Classification</a:t>
            </a:r>
          </a:p>
          <a:p>
            <a:pPr marL="285750" indent="-285750">
              <a:spcAft>
                <a:spcPts val="1000"/>
              </a:spcAft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Using AI (Artificial Intelligence) for Computer Vision Application to Build CAD System</a:t>
            </a:r>
          </a:p>
          <a:p>
            <a:pPr marL="285750" indent="-285750">
              <a:spcAft>
                <a:spcPts val="1000"/>
              </a:spcAft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Using Algorithm : ANN, SVM, CNN, etc.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DA56FAD0-6851-424D-A913-FEB09824F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451014"/>
              </p:ext>
            </p:extLst>
          </p:nvPr>
        </p:nvGraphicFramePr>
        <p:xfrm>
          <a:off x="2380177" y="3806038"/>
          <a:ext cx="7163240" cy="2281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70">
                  <a:extLst>
                    <a:ext uri="{9D8B030D-6E8A-4147-A177-3AD203B41FA5}">
                      <a16:colId xmlns:a16="http://schemas.microsoft.com/office/drawing/2014/main" val="3874607008"/>
                    </a:ext>
                  </a:extLst>
                </a:gridCol>
                <a:gridCol w="1667470">
                  <a:extLst>
                    <a:ext uri="{9D8B030D-6E8A-4147-A177-3AD203B41FA5}">
                      <a16:colId xmlns:a16="http://schemas.microsoft.com/office/drawing/2014/main" val="2831924930"/>
                    </a:ext>
                  </a:extLst>
                </a:gridCol>
              </a:tblGrid>
              <a:tr h="4145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Paper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Accuracy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09037"/>
                  </a:ext>
                </a:extLst>
              </a:tr>
              <a:tr h="8852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xViTCOS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: Explainable Vision Transformer Based</a:t>
                      </a: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COVID-19 Screening Using Radiography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0.96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773062"/>
                  </a:ext>
                </a:extLst>
              </a:tr>
              <a:tr h="9815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Vision Transformer For Classification of</a:t>
                      </a: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Breast Ultrasound Images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0.86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22743"/>
                  </a:ext>
                </a:extLst>
              </a:tr>
            </a:tbl>
          </a:graphicData>
        </a:graphic>
      </p:graphicFrame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FDB067C5-5A1C-4A26-86FF-CE0D00263CB3}"/>
              </a:ext>
            </a:extLst>
          </p:cNvPr>
          <p:cNvSpPr txBox="1">
            <a:spLocks/>
          </p:cNvSpPr>
          <p:nvPr/>
        </p:nvSpPr>
        <p:spPr>
          <a:xfrm>
            <a:off x="419194" y="2970000"/>
            <a:ext cx="11353612" cy="562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2000" indent="-189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75000"/>
              <a:buFontTx/>
              <a:buBlip>
                <a:blip r:embed="rId3"/>
              </a:buBlip>
              <a:defRPr sz="2000" b="1" kern="1200">
                <a:solidFill>
                  <a:srgbClr val="333A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1pPr>
            <a:lvl2pPr marL="351000" indent="-135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2pPr>
            <a:lvl3pPr marL="567000" indent="-189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5000"/>
              <a:buFont typeface="맑은 고딕" panose="020B0503020000020004" pitchFamily="50" charset="-127"/>
              <a:buChar char="→"/>
              <a:defRPr sz="1400" kern="1200">
                <a:solidFill>
                  <a:srgbClr val="387682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675000" indent="-10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맑은 고딕" panose="020B0503020000020004" pitchFamily="50" charset="-127"/>
              <a:buChar char="-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Prior Research Using </a:t>
            </a:r>
            <a:r>
              <a:rPr lang="en-US" altLang="ko-KR" dirty="0" err="1"/>
              <a:t>ViT</a:t>
            </a:r>
            <a:r>
              <a:rPr lang="en-US" altLang="ko-KR" dirty="0"/>
              <a:t> (Vision Transformer)</a:t>
            </a:r>
          </a:p>
        </p:txBody>
      </p:sp>
    </p:spTree>
    <p:extLst>
      <p:ext uri="{BB962C8B-B14F-4D97-AF65-F5344CB8AC3E}">
        <p14:creationId xmlns:p14="http://schemas.microsoft.com/office/powerpoint/2010/main" val="64705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Research Subject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“ Development of Brain Tumor Classification Model Using </a:t>
            </a:r>
            <a:r>
              <a:rPr lang="en-US" altLang="ko-KR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ViT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”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796AC-4F38-4537-94CD-AC8EBDAE731D}"/>
              </a:ext>
            </a:extLst>
          </p:cNvPr>
          <p:cNvSpPr txBox="1"/>
          <p:nvPr/>
        </p:nvSpPr>
        <p:spPr>
          <a:xfrm>
            <a:off x="609600" y="5308858"/>
            <a:ext cx="10704394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Brain Tumor Image Classification Accuracy </a:t>
            </a:r>
          </a:p>
          <a:p>
            <a:pPr marL="285750" indent="-285750">
              <a:spcAft>
                <a:spcPts val="1000"/>
              </a:spcAft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Classification Performance Verification Using </a:t>
            </a:r>
            <a:r>
              <a:rPr lang="en-US" altLang="ko-KR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ViT</a:t>
            </a:r>
            <a:endParaRPr lang="en-US" altLang="ko-KR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ED3BFCA0-F308-40FC-B35A-1BB73B56A9F2}"/>
              </a:ext>
            </a:extLst>
          </p:cNvPr>
          <p:cNvSpPr txBox="1">
            <a:spLocks/>
          </p:cNvSpPr>
          <p:nvPr/>
        </p:nvSpPr>
        <p:spPr>
          <a:xfrm>
            <a:off x="419194" y="4597069"/>
            <a:ext cx="11353612" cy="562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2000" indent="-189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75000"/>
              <a:buFontTx/>
              <a:buBlip>
                <a:blip r:embed="rId3"/>
              </a:buBlip>
              <a:defRPr sz="2000" b="1" kern="1200">
                <a:solidFill>
                  <a:srgbClr val="333A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1pPr>
            <a:lvl2pPr marL="351000" indent="-135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2pPr>
            <a:lvl3pPr marL="567000" indent="-189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5000"/>
              <a:buFont typeface="맑은 고딕" panose="020B0503020000020004" pitchFamily="50" charset="-127"/>
              <a:buChar char="→"/>
              <a:defRPr sz="1400" kern="1200">
                <a:solidFill>
                  <a:srgbClr val="387682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675000" indent="-10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맑은 고딕" panose="020B0503020000020004" pitchFamily="50" charset="-127"/>
              <a:buChar char="-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Research Purpose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31A676C-9D41-4982-84D6-E8372502F13A}"/>
              </a:ext>
            </a:extLst>
          </p:cNvPr>
          <p:cNvGrpSpPr/>
          <p:nvPr/>
        </p:nvGrpSpPr>
        <p:grpSpPr>
          <a:xfrm>
            <a:off x="3046379" y="2285275"/>
            <a:ext cx="6099242" cy="2120630"/>
            <a:chOff x="3046379" y="2285275"/>
            <a:chExt cx="6099242" cy="2120630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1DCC751-F40E-4691-8217-C8F5BC0A32F8}"/>
                </a:ext>
              </a:extLst>
            </p:cNvPr>
            <p:cNvGrpSpPr/>
            <p:nvPr/>
          </p:nvGrpSpPr>
          <p:grpSpPr>
            <a:xfrm>
              <a:off x="3046379" y="2285275"/>
              <a:ext cx="6099242" cy="2120630"/>
              <a:chOff x="2500453" y="2688986"/>
              <a:chExt cx="6099242" cy="2120630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CA181E41-0A79-4754-AE83-500C1FBAB057}"/>
                  </a:ext>
                </a:extLst>
              </p:cNvPr>
              <p:cNvSpPr/>
              <p:nvPr/>
            </p:nvSpPr>
            <p:spPr>
              <a:xfrm>
                <a:off x="2500453" y="2688986"/>
                <a:ext cx="6099242" cy="2120630"/>
              </a:xfrm>
              <a:prstGeom prst="roundRect">
                <a:avLst/>
              </a:prstGeom>
              <a:noFill/>
              <a:ln w="38100">
                <a:solidFill>
                  <a:srgbClr val="2247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0B0135EB-C5B4-4E72-9DB9-936938C38618}"/>
                  </a:ext>
                </a:extLst>
              </p:cNvPr>
              <p:cNvGrpSpPr/>
              <p:nvPr/>
            </p:nvGrpSpPr>
            <p:grpSpPr>
              <a:xfrm>
                <a:off x="2735316" y="3336757"/>
                <a:ext cx="5716871" cy="1235125"/>
                <a:chOff x="2735316" y="3336757"/>
                <a:chExt cx="5716871" cy="1235125"/>
              </a:xfrm>
            </p:grpSpPr>
            <p:cxnSp>
              <p:nvCxnSpPr>
                <p:cNvPr id="13" name="직선 화살표 연결선 12">
                  <a:extLst>
                    <a:ext uri="{FF2B5EF4-FFF2-40B4-BE49-F238E27FC236}">
                      <a16:creationId xmlns:a16="http://schemas.microsoft.com/office/drawing/2014/main" id="{FCD655A4-7FA9-4643-B13A-EC51786547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55506" y="3552757"/>
                  <a:ext cx="7920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직선 화살표 연결선 13">
                  <a:extLst>
                    <a:ext uri="{FF2B5EF4-FFF2-40B4-BE49-F238E27FC236}">
                      <a16:creationId xmlns:a16="http://schemas.microsoft.com/office/drawing/2014/main" id="{3E40DFB7-5CBC-4DCF-8BF4-7FC8501ED6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52643" y="3552757"/>
                  <a:ext cx="7920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ED6F27C-5915-4C34-A403-673E950925D9}"/>
                    </a:ext>
                  </a:extLst>
                </p:cNvPr>
                <p:cNvSpPr txBox="1"/>
                <p:nvPr/>
              </p:nvSpPr>
              <p:spPr>
                <a:xfrm>
                  <a:off x="2735316" y="4110217"/>
                  <a:ext cx="110447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Brain</a:t>
                  </a:r>
                  <a:r>
                    <a:rPr lang="ko-KR" altLang="en-US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 </a:t>
                  </a:r>
                  <a:r>
                    <a:rPr lang="en-US" altLang="ko-KR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MRI</a:t>
                  </a:r>
                </a:p>
                <a:p>
                  <a:pPr algn="ctr"/>
                  <a:r>
                    <a:rPr lang="en-US" altLang="ko-KR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Image</a:t>
                  </a:r>
                  <a:endParaRPr lang="ko-KR" altLang="en-US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endParaRPr>
                </a:p>
              </p:txBody>
            </p:sp>
            <p:grpSp>
              <p:nvGrpSpPr>
                <p:cNvPr id="23" name="그룹 22">
                  <a:extLst>
                    <a:ext uri="{FF2B5EF4-FFF2-40B4-BE49-F238E27FC236}">
                      <a16:creationId xmlns:a16="http://schemas.microsoft.com/office/drawing/2014/main" id="{45D6B701-DDDF-493A-93E5-EB5D2D7F0492}"/>
                    </a:ext>
                  </a:extLst>
                </p:cNvPr>
                <p:cNvGrpSpPr/>
                <p:nvPr/>
              </p:nvGrpSpPr>
              <p:grpSpPr>
                <a:xfrm>
                  <a:off x="4857491" y="3336757"/>
                  <a:ext cx="1385167" cy="1142792"/>
                  <a:chOff x="4857780" y="3336757"/>
                  <a:chExt cx="1385167" cy="1142792"/>
                </a:xfrm>
              </p:grpSpPr>
              <p:grpSp>
                <p:nvGrpSpPr>
                  <p:cNvPr id="9" name="그룹 8">
                    <a:extLst>
                      <a:ext uri="{FF2B5EF4-FFF2-40B4-BE49-F238E27FC236}">
                        <a16:creationId xmlns:a16="http://schemas.microsoft.com/office/drawing/2014/main" id="{4CFF7FB8-DD8B-4535-8AAA-159EF1E7210D}"/>
                      </a:ext>
                    </a:extLst>
                  </p:cNvPr>
                  <p:cNvGrpSpPr/>
                  <p:nvPr/>
                </p:nvGrpSpPr>
                <p:grpSpPr>
                  <a:xfrm>
                    <a:off x="4857780" y="3336757"/>
                    <a:ext cx="1385167" cy="432000"/>
                    <a:chOff x="1364654" y="995750"/>
                    <a:chExt cx="1385167" cy="432000"/>
                  </a:xfrm>
                </p:grpSpPr>
                <p:sp>
                  <p:nvSpPr>
                    <p:cNvPr id="10" name="사각형: 둥근 모서리 9">
                      <a:extLst>
                        <a:ext uri="{FF2B5EF4-FFF2-40B4-BE49-F238E27FC236}">
                          <a16:creationId xmlns:a16="http://schemas.microsoft.com/office/drawing/2014/main" id="{B82D1002-096D-41CF-88F4-5165604E45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02482" y="995750"/>
                      <a:ext cx="1309513" cy="432000"/>
                    </a:xfrm>
                    <a:prstGeom prst="roundRect">
                      <a:avLst/>
                    </a:prstGeom>
                    <a:solidFill>
                      <a:srgbClr val="C5BEDF"/>
                    </a:solidFill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215DBE3F-143D-41BA-9066-B026F5D040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64654" y="1039052"/>
                      <a:ext cx="138516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b="1" dirty="0" err="1"/>
                        <a:t>ViT</a:t>
                      </a:r>
                      <a:endParaRPr lang="ko-KR" altLang="en-US" b="1" dirty="0"/>
                    </a:p>
                  </p:txBody>
                </p:sp>
              </p:grp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A76FCC8-5822-4B4B-9705-41BF1FA912DF}"/>
                      </a:ext>
                    </a:extLst>
                  </p:cNvPr>
                  <p:cNvSpPr txBox="1"/>
                  <p:nvPr/>
                </p:nvSpPr>
                <p:spPr>
                  <a:xfrm>
                    <a:off x="4998124" y="4202550"/>
                    <a:ext cx="1104479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2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rPr>
                      <a:t>Model</a:t>
                    </a:r>
                    <a:endParaRPr lang="ko-KR" altLang="en-US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endParaRPr>
                  </a:p>
                </p:txBody>
              </p:sp>
            </p:grp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84141176-D7C8-4D53-9065-197B5D741731}"/>
                    </a:ext>
                  </a:extLst>
                </p:cNvPr>
                <p:cNvGrpSpPr/>
                <p:nvPr/>
              </p:nvGrpSpPr>
              <p:grpSpPr>
                <a:xfrm>
                  <a:off x="7260353" y="3398869"/>
                  <a:ext cx="1191834" cy="1173013"/>
                  <a:chOff x="7260353" y="3398869"/>
                  <a:chExt cx="1191834" cy="1173013"/>
                </a:xfrm>
              </p:grpSpPr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E7E5D49-1E55-4B64-8CFB-F1D29C13FF2E}"/>
                      </a:ext>
                    </a:extLst>
                  </p:cNvPr>
                  <p:cNvSpPr txBox="1"/>
                  <p:nvPr/>
                </p:nvSpPr>
                <p:spPr>
                  <a:xfrm>
                    <a:off x="7260353" y="3398869"/>
                    <a:ext cx="1191834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400" b="1" dirty="0"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함초롬바탕" panose="02030604000101010101" pitchFamily="18" charset="-127"/>
                      </a:rPr>
                      <a:t>“Glioma”</a:t>
                    </a:r>
                    <a:endParaRPr lang="ko-KR" altLang="en-US" sz="1400" b="1" dirty="0">
                      <a:latin typeface="에스코어 드림 5 Medium" panose="020B0503030302020204" pitchFamily="34" charset="-127"/>
                      <a:ea typeface="에스코어 드림 5 Medium" panose="020B0503030302020204" pitchFamily="34" charset="-127"/>
                      <a:cs typeface="함초롬바탕" panose="02030604000101010101" pitchFamily="18" charset="-127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9AF0B4E8-2837-4125-ACBD-946A184873A8}"/>
                      </a:ext>
                    </a:extLst>
                  </p:cNvPr>
                  <p:cNvSpPr txBox="1"/>
                  <p:nvPr/>
                </p:nvSpPr>
                <p:spPr>
                  <a:xfrm>
                    <a:off x="7304031" y="4110217"/>
                    <a:ext cx="110447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2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rPr>
                      <a:t>Class</a:t>
                    </a:r>
                  </a:p>
                  <a:p>
                    <a:pPr algn="ctr"/>
                    <a:r>
                      <a:rPr lang="en-US" altLang="ko-KR" sz="12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rPr>
                      <a:t>Prediction</a:t>
                    </a:r>
                    <a:endParaRPr lang="ko-KR" altLang="en-US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endParaRPr>
                  </a:p>
                </p:txBody>
              </p:sp>
            </p:grpSp>
          </p:grpSp>
        </p:grp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9501AFE-8C02-4A3E-8CB3-A8673CBE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8022" y="2593434"/>
              <a:ext cx="1104479" cy="11351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6124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0DE5527-34F4-C151-951A-147F1DFBC6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11A055-D2D5-754A-E285-031ECEE82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190C2F-2E8C-DDA0-E5C6-210B91358C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534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Dataset – Kaggle : Brain Tumor MRI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Summary of Used Image Dataset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AF69271-3C66-4023-A8C4-F7957BA5D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357215"/>
              </p:ext>
            </p:extLst>
          </p:nvPr>
        </p:nvGraphicFramePr>
        <p:xfrm>
          <a:off x="1294572" y="2939658"/>
          <a:ext cx="4674968" cy="2765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050">
                  <a:extLst>
                    <a:ext uri="{9D8B030D-6E8A-4147-A177-3AD203B41FA5}">
                      <a16:colId xmlns:a16="http://schemas.microsoft.com/office/drawing/2014/main" val="1435077270"/>
                    </a:ext>
                  </a:extLst>
                </a:gridCol>
                <a:gridCol w="1375459">
                  <a:extLst>
                    <a:ext uri="{9D8B030D-6E8A-4147-A177-3AD203B41FA5}">
                      <a16:colId xmlns:a16="http://schemas.microsoft.com/office/drawing/2014/main" val="1927775581"/>
                    </a:ext>
                  </a:extLst>
                </a:gridCol>
                <a:gridCol w="1375459">
                  <a:extLst>
                    <a:ext uri="{9D8B030D-6E8A-4147-A177-3AD203B41FA5}">
                      <a16:colId xmlns:a16="http://schemas.microsoft.com/office/drawing/2014/main" val="1375394770"/>
                    </a:ext>
                  </a:extLst>
                </a:gridCol>
              </a:tblGrid>
              <a:tr h="3767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Class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Train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Test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705050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glioma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1,321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300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703276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meningioma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1,339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306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57893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pituitary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1,457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300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87267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no tumor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1,595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405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890242"/>
                  </a:ext>
                </a:extLst>
              </a:tr>
              <a:tr h="4778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Total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5,712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1,311</a:t>
                      </a:r>
                      <a:endParaRPr lang="ko-KR" altLang="en-US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4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817758"/>
                  </a:ext>
                </a:extLst>
              </a:tr>
            </a:tbl>
          </a:graphicData>
        </a:graphic>
      </p:graphicFrame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1F89FE6-2E5D-4CF7-9B27-5FE990387376}"/>
              </a:ext>
            </a:extLst>
          </p:cNvPr>
          <p:cNvSpPr/>
          <p:nvPr/>
        </p:nvSpPr>
        <p:spPr>
          <a:xfrm>
            <a:off x="7001703" y="2074352"/>
            <a:ext cx="3895725" cy="4129009"/>
          </a:xfrm>
          <a:prstGeom prst="roundRect">
            <a:avLst>
              <a:gd name="adj" fmla="val 13437"/>
            </a:avLst>
          </a:prstGeom>
          <a:noFill/>
          <a:ln w="38100">
            <a:solidFill>
              <a:srgbClr val="2247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83C033E-E57D-496B-B3FC-3F61E4EC7FDB}"/>
              </a:ext>
            </a:extLst>
          </p:cNvPr>
          <p:cNvGrpSpPr/>
          <p:nvPr/>
        </p:nvGrpSpPr>
        <p:grpSpPr>
          <a:xfrm>
            <a:off x="7872705" y="1864668"/>
            <a:ext cx="2153719" cy="399107"/>
            <a:chOff x="7550042" y="6053100"/>
            <a:chExt cx="2153719" cy="399107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5E9CDA5F-3855-4474-9DB5-31183C5F22B7}"/>
                </a:ext>
              </a:extLst>
            </p:cNvPr>
            <p:cNvSpPr/>
            <p:nvPr/>
          </p:nvSpPr>
          <p:spPr>
            <a:xfrm>
              <a:off x="7550042" y="6053100"/>
              <a:ext cx="2153719" cy="399107"/>
            </a:xfrm>
            <a:prstGeom prst="roundRect">
              <a:avLst/>
            </a:prstGeom>
            <a:solidFill>
              <a:srgbClr val="3876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ACA83B-A202-4C47-80B6-ACD2B0FBA511}"/>
                </a:ext>
              </a:extLst>
            </p:cNvPr>
            <p:cNvSpPr txBox="1"/>
            <p:nvPr/>
          </p:nvSpPr>
          <p:spPr>
            <a:xfrm>
              <a:off x="7804614" y="6073433"/>
              <a:ext cx="1644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4 Class</a:t>
              </a:r>
              <a:endParaRPr lang="ko-KR" altLang="en-US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9D2AAA75-2A91-4DDC-BFA7-940442B52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75"/>
          <a:stretch/>
        </p:blipFill>
        <p:spPr>
          <a:xfrm>
            <a:off x="7358983" y="2350704"/>
            <a:ext cx="3181159" cy="3576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3AF47B-87E5-F5CC-056F-EE13CC72F479}"/>
              </a:ext>
            </a:extLst>
          </p:cNvPr>
          <p:cNvSpPr txBox="1"/>
          <p:nvPr/>
        </p:nvSpPr>
        <p:spPr>
          <a:xfrm>
            <a:off x="850899" y="2217316"/>
            <a:ext cx="499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Composition : Sagittal, Frontal, Horizontal</a:t>
            </a:r>
          </a:p>
        </p:txBody>
      </p:sp>
    </p:spTree>
    <p:extLst>
      <p:ext uri="{BB962C8B-B14F-4D97-AF65-F5344CB8AC3E}">
        <p14:creationId xmlns:p14="http://schemas.microsoft.com/office/powerpoint/2010/main" val="3706104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Image Load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Combining Separated Images by Sub-folders into Image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91E7EA-4800-4B16-A4F5-D9B9B584DCF4}"/>
              </a:ext>
            </a:extLst>
          </p:cNvPr>
          <p:cNvSpPr txBox="1"/>
          <p:nvPr/>
        </p:nvSpPr>
        <p:spPr>
          <a:xfrm>
            <a:off x="849600" y="6311587"/>
            <a:ext cx="4344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labels = [‘glioma’, ‘meningioma’, ‘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notumor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’, ‘pituitary’]</a:t>
            </a:r>
            <a:endParaRPr lang="ko-KR" altLang="en-US" sz="1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1FB5887-6783-4F66-BBDB-058121C12161}"/>
              </a:ext>
            </a:extLst>
          </p:cNvPr>
          <p:cNvGrpSpPr/>
          <p:nvPr/>
        </p:nvGrpSpPr>
        <p:grpSpPr>
          <a:xfrm>
            <a:off x="849600" y="2167200"/>
            <a:ext cx="4791744" cy="2350913"/>
            <a:chOff x="1111605" y="2821940"/>
            <a:chExt cx="4791744" cy="235091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DDBBC27-8DA8-45D3-9C97-A0C445EEF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1605" y="2821940"/>
              <a:ext cx="4791744" cy="213389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359BEB5-147E-4D23-8648-2C0452A85A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9206" b="6249"/>
            <a:stretch/>
          </p:blipFill>
          <p:spPr>
            <a:xfrm>
              <a:off x="1111605" y="4958510"/>
              <a:ext cx="4791744" cy="214343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13B493B-1F13-4275-878C-9C5487CB150D}"/>
              </a:ext>
            </a:extLst>
          </p:cNvPr>
          <p:cNvGrpSpPr/>
          <p:nvPr/>
        </p:nvGrpSpPr>
        <p:grpSpPr>
          <a:xfrm>
            <a:off x="849600" y="5227097"/>
            <a:ext cx="3439005" cy="1084490"/>
            <a:chOff x="7111556" y="4133507"/>
            <a:chExt cx="3439005" cy="108449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D1D2D47-7C69-4F2A-A4E7-4A2022D6F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11556" y="4133507"/>
              <a:ext cx="3439005" cy="885949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3630A15-3272-4CAD-B6B2-1C0E043C7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33148"/>
            <a:stretch/>
          </p:blipFill>
          <p:spPr>
            <a:xfrm>
              <a:off x="7111556" y="5017944"/>
              <a:ext cx="3439005" cy="200053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691506C-3BF9-4439-B7EA-960968E10F1F}"/>
              </a:ext>
            </a:extLst>
          </p:cNvPr>
          <p:cNvSpPr txBox="1"/>
          <p:nvPr/>
        </p:nvSpPr>
        <p:spPr>
          <a:xfrm>
            <a:off x="849600" y="4518113"/>
            <a:ext cx="4344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img_height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width = 512 (For Make Same Dimension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ndarray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endParaRPr lang="ko-KR" altLang="en-US" sz="1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aphicFrame>
        <p:nvGraphicFramePr>
          <p:cNvPr id="19" name="표 7">
            <a:extLst>
              <a:ext uri="{FF2B5EF4-FFF2-40B4-BE49-F238E27FC236}">
                <a16:creationId xmlns:a16="http://schemas.microsoft.com/office/drawing/2014/main" id="{C078C750-DAFB-4FD1-9161-36490F0BD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580828"/>
              </p:ext>
            </p:extLst>
          </p:nvPr>
        </p:nvGraphicFramePr>
        <p:xfrm>
          <a:off x="6550658" y="2181481"/>
          <a:ext cx="4791744" cy="2493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070">
                  <a:extLst>
                    <a:ext uri="{9D8B030D-6E8A-4147-A177-3AD203B41FA5}">
                      <a16:colId xmlns:a16="http://schemas.microsoft.com/office/drawing/2014/main" val="3874607008"/>
                    </a:ext>
                  </a:extLst>
                </a:gridCol>
                <a:gridCol w="1961434">
                  <a:extLst>
                    <a:ext uri="{9D8B030D-6E8A-4147-A177-3AD203B41FA5}">
                      <a16:colId xmlns:a16="http://schemas.microsoft.com/office/drawing/2014/main" val="2831924930"/>
                    </a:ext>
                  </a:extLst>
                </a:gridCol>
                <a:gridCol w="1461240">
                  <a:extLst>
                    <a:ext uri="{9D8B030D-6E8A-4147-A177-3AD203B41FA5}">
                      <a16:colId xmlns:a16="http://schemas.microsoft.com/office/drawing/2014/main" val="3486271394"/>
                    </a:ext>
                  </a:extLst>
                </a:gridCol>
              </a:tblGrid>
              <a:tr h="4145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Variable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shape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09037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X_train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(5700, 512, 512, 3)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ndarray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773062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X_test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(1300, 512, 512, 3)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144231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y_train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(5700, )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627035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y_test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(1300, )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2274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78EDEB4-4C38-4993-9255-85F4D29D8F5A}"/>
              </a:ext>
            </a:extLst>
          </p:cNvPr>
          <p:cNvSpPr txBox="1"/>
          <p:nvPr/>
        </p:nvSpPr>
        <p:spPr>
          <a:xfrm>
            <a:off x="6550658" y="4674850"/>
            <a:ext cx="4791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</a:t>
            </a:r>
            <a:r>
              <a:rPr lang="en-US" altLang="ko-KR" sz="12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tf.reshape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Error → Set Image Numbers to Hundred Units</a:t>
            </a:r>
            <a:endParaRPr lang="ko-KR" altLang="en-US" sz="12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A381C-8BAA-412D-ACEC-53E74CE85497}"/>
              </a:ext>
            </a:extLst>
          </p:cNvPr>
          <p:cNvSpPr txBox="1"/>
          <p:nvPr/>
        </p:nvSpPr>
        <p:spPr>
          <a:xfrm>
            <a:off x="609600" y="4823897"/>
            <a:ext cx="3884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Make Label Data</a:t>
            </a:r>
          </a:p>
        </p:txBody>
      </p:sp>
      <p:graphicFrame>
        <p:nvGraphicFramePr>
          <p:cNvPr id="21" name="표 7">
            <a:extLst>
              <a:ext uri="{FF2B5EF4-FFF2-40B4-BE49-F238E27FC236}">
                <a16:creationId xmlns:a16="http://schemas.microsoft.com/office/drawing/2014/main" id="{37EFF8DF-7E31-4E8C-B9DF-E843B9146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434347"/>
              </p:ext>
            </p:extLst>
          </p:nvPr>
        </p:nvGraphicFramePr>
        <p:xfrm>
          <a:off x="6550658" y="5240168"/>
          <a:ext cx="4791740" cy="1039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657">
                  <a:extLst>
                    <a:ext uri="{9D8B030D-6E8A-4147-A177-3AD203B41FA5}">
                      <a16:colId xmlns:a16="http://schemas.microsoft.com/office/drawing/2014/main" val="3874607008"/>
                    </a:ext>
                  </a:extLst>
                </a:gridCol>
                <a:gridCol w="1028213">
                  <a:extLst>
                    <a:ext uri="{9D8B030D-6E8A-4147-A177-3AD203B41FA5}">
                      <a16:colId xmlns:a16="http://schemas.microsoft.com/office/drawing/2014/main" val="2831924930"/>
                    </a:ext>
                  </a:extLst>
                </a:gridCol>
                <a:gridCol w="1286970">
                  <a:extLst>
                    <a:ext uri="{9D8B030D-6E8A-4147-A177-3AD203B41FA5}">
                      <a16:colId xmlns:a16="http://schemas.microsoft.com/office/drawing/2014/main" val="3624878568"/>
                    </a:ext>
                  </a:extLst>
                </a:gridCol>
                <a:gridCol w="1108900">
                  <a:extLst>
                    <a:ext uri="{9D8B030D-6E8A-4147-A177-3AD203B41FA5}">
                      <a16:colId xmlns:a16="http://schemas.microsoft.com/office/drawing/2014/main" val="1540603281"/>
                    </a:ext>
                  </a:extLst>
                </a:gridCol>
              </a:tblGrid>
              <a:tr h="519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glioma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no tumor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773062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meningioma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pituitary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7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144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228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Model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Using Basic Structure of </a:t>
            </a:r>
            <a:r>
              <a:rPr lang="en-US" altLang="ko-KR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ViT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7287F845-6A1E-4FE8-BAEF-DCB96673E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893" y="2939038"/>
            <a:ext cx="4390293" cy="25365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BE6FD4D-FA22-41F4-A60A-412D39027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99" y="2576070"/>
            <a:ext cx="5824264" cy="311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15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Modeling – Image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772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Resize Image to (</a:t>
            </a:r>
            <a:r>
              <a:rPr lang="en-US" altLang="ko-KR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image_size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image_size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3)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8F9346-C147-4F0A-9F4E-C4D164A08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99" y="2167200"/>
            <a:ext cx="7487695" cy="8287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7E564A4-5B12-4154-9C0D-6365112C90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178"/>
          <a:stretch/>
        </p:blipFill>
        <p:spPr>
          <a:xfrm>
            <a:off x="850899" y="3757463"/>
            <a:ext cx="7487695" cy="24577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08B099-1DD8-4480-BEB8-A3FF2942F214}"/>
              </a:ext>
            </a:extLst>
          </p:cNvPr>
          <p:cNvSpPr txBox="1"/>
          <p:nvPr/>
        </p:nvSpPr>
        <p:spPr>
          <a:xfrm>
            <a:off x="609600" y="3305532"/>
            <a:ext cx="6092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Make Patches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EF0CF-8805-4BA5-A916-B1C5CBB8584A}"/>
              </a:ext>
            </a:extLst>
          </p:cNvPr>
          <p:cNvSpPr txBox="1"/>
          <p:nvPr/>
        </p:nvSpPr>
        <p:spPr>
          <a:xfrm>
            <a:off x="8338594" y="2718992"/>
            <a:ext cx="1980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</a:t>
            </a:r>
            <a:r>
              <a:rPr lang="en-US" altLang="ko-KR" sz="12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image_size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=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324</a:t>
            </a:r>
            <a:endParaRPr lang="ko-KR" altLang="en-US" sz="12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5812E9-DAC4-49A8-BF10-C7261F3C101A}"/>
              </a:ext>
            </a:extLst>
          </p:cNvPr>
          <p:cNvSpPr txBox="1"/>
          <p:nvPr/>
        </p:nvSpPr>
        <p:spPr>
          <a:xfrm>
            <a:off x="8338594" y="5676559"/>
            <a:ext cx="1888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</a:t>
            </a:r>
            <a:r>
              <a:rPr lang="en-US" altLang="ko-KR" sz="12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patch_size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= 18</a:t>
            </a:r>
            <a:endParaRPr lang="ko-KR" altLang="en-US" sz="12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82A498-EB44-40A0-AF88-6432CA59DC59}"/>
              </a:ext>
            </a:extLst>
          </p:cNvPr>
          <p:cNvSpPr/>
          <p:nvPr/>
        </p:nvSpPr>
        <p:spPr>
          <a:xfrm>
            <a:off x="3341590" y="3935281"/>
            <a:ext cx="1348625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BD5A19-8664-4DAE-BBE7-507020886CE2}"/>
              </a:ext>
            </a:extLst>
          </p:cNvPr>
          <p:cNvSpPr txBox="1"/>
          <p:nvPr/>
        </p:nvSpPr>
        <p:spPr>
          <a:xfrm>
            <a:off x="8338593" y="5911074"/>
            <a:ext cx="3002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  </a:t>
            </a:r>
            <a:r>
              <a:rPr lang="en-US" altLang="ko-KR" sz="12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patch_dimension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=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972 (18*18*3)</a:t>
            </a:r>
            <a:endParaRPr lang="ko-KR" altLang="en-US" sz="12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736F336-4A69-456C-9BEB-F2F08FCDF91D}"/>
              </a:ext>
            </a:extLst>
          </p:cNvPr>
          <p:cNvCxnSpPr/>
          <p:nvPr/>
        </p:nvCxnSpPr>
        <p:spPr>
          <a:xfrm>
            <a:off x="2066671" y="5972122"/>
            <a:ext cx="95423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322DF60-0E65-4B95-A490-48D33F3D7B5E}"/>
              </a:ext>
            </a:extLst>
          </p:cNvPr>
          <p:cNvGrpSpPr/>
          <p:nvPr/>
        </p:nvGrpSpPr>
        <p:grpSpPr>
          <a:xfrm>
            <a:off x="8419767" y="3866407"/>
            <a:ext cx="3614100" cy="1797639"/>
            <a:chOff x="8419767" y="3866407"/>
            <a:chExt cx="3614100" cy="179763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B3960AB-EF73-4DB1-A9D9-D4189981D8B1}"/>
                </a:ext>
              </a:extLst>
            </p:cNvPr>
            <p:cNvGrpSpPr/>
            <p:nvPr/>
          </p:nvGrpSpPr>
          <p:grpSpPr>
            <a:xfrm>
              <a:off x="8419767" y="3917034"/>
              <a:ext cx="3614100" cy="1747012"/>
              <a:chOff x="8501410" y="3915110"/>
              <a:chExt cx="3614100" cy="1747012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8005906-55F1-409F-BF3C-840B6FDCC102}"/>
                  </a:ext>
                </a:extLst>
              </p:cNvPr>
              <p:cNvGrpSpPr/>
              <p:nvPr/>
            </p:nvGrpSpPr>
            <p:grpSpPr>
              <a:xfrm>
                <a:off x="8501410" y="3915110"/>
                <a:ext cx="1562591" cy="1726353"/>
                <a:chOff x="8756162" y="3916122"/>
                <a:chExt cx="1562591" cy="1726353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5AFFD51-DF15-419D-BE24-D6C2E6DF2146}"/>
                    </a:ext>
                  </a:extLst>
                </p:cNvPr>
                <p:cNvSpPr txBox="1"/>
                <p:nvPr/>
              </p:nvSpPr>
              <p:spPr>
                <a:xfrm>
                  <a:off x="8756162" y="4162278"/>
                  <a:ext cx="5433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18</a:t>
                  </a:r>
                  <a:endParaRPr lang="ko-KR" altLang="en-US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endParaRPr>
                </a:p>
              </p:txBody>
            </p:sp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811822DC-D88D-40BD-B9C7-1E3E6F68DC28}"/>
                    </a:ext>
                  </a:extLst>
                </p:cNvPr>
                <p:cNvSpPr/>
                <p:nvPr/>
              </p:nvSpPr>
              <p:spPr>
                <a:xfrm>
                  <a:off x="9161217" y="4148737"/>
                  <a:ext cx="1157536" cy="1182655"/>
                </a:xfrm>
                <a:prstGeom prst="rect">
                  <a:avLst/>
                </a:prstGeom>
                <a:noFill/>
                <a:ln w="28575">
                  <a:solidFill>
                    <a:srgbClr val="2247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5CA07EAB-BB90-4642-8E53-91014ABA4F23}"/>
                    </a:ext>
                  </a:extLst>
                </p:cNvPr>
                <p:cNvSpPr/>
                <p:nvPr/>
              </p:nvSpPr>
              <p:spPr>
                <a:xfrm>
                  <a:off x="9169478" y="4151999"/>
                  <a:ext cx="277200" cy="276999"/>
                </a:xfrm>
                <a:prstGeom prst="rect">
                  <a:avLst/>
                </a:prstGeom>
                <a:solidFill>
                  <a:srgbClr val="95BDBA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rgbClr val="95BDBA"/>
                    </a:solidFill>
                  </a:endParaRP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7D328DE-A8EB-45DA-A402-0B31560809AD}"/>
                    </a:ext>
                  </a:extLst>
                </p:cNvPr>
                <p:cNvSpPr txBox="1"/>
                <p:nvPr/>
              </p:nvSpPr>
              <p:spPr>
                <a:xfrm rot="2654393">
                  <a:off x="9431016" y="4533021"/>
                  <a:ext cx="6944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>
                      <a:solidFill>
                        <a:srgbClr val="95BDBA"/>
                      </a:solidFill>
                      <a:latin typeface="에스코어 드림 8 Heavy" panose="020B0903030302020204" pitchFamily="34" charset="-127"/>
                      <a:ea typeface="에스코어 드림 8 Heavy" panose="020B0903030302020204" pitchFamily="34" charset="-127"/>
                    </a:rPr>
                    <a:t>. . .</a:t>
                  </a:r>
                  <a:endParaRPr lang="ko-KR" altLang="en-US" dirty="0">
                    <a:solidFill>
                      <a:srgbClr val="95BDBA"/>
                    </a:solidFill>
                    <a:latin typeface="에스코어 드림 8 Heavy" panose="020B0903030302020204" pitchFamily="34" charset="-127"/>
                    <a:ea typeface="에스코어 드림 8 Heavy" panose="020B0903030302020204" pitchFamily="34" charset="-127"/>
                  </a:endParaRPr>
                </a:p>
              </p:txBody>
            </p:sp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AE94A49C-CD8D-42FF-B1F8-D3C014F55EAC}"/>
                    </a:ext>
                  </a:extLst>
                </p:cNvPr>
                <p:cNvSpPr/>
                <p:nvPr/>
              </p:nvSpPr>
              <p:spPr>
                <a:xfrm>
                  <a:off x="10032365" y="5054393"/>
                  <a:ext cx="277200" cy="276999"/>
                </a:xfrm>
                <a:prstGeom prst="rect">
                  <a:avLst/>
                </a:prstGeom>
                <a:solidFill>
                  <a:srgbClr val="95BDBA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rgbClr val="95BDBA"/>
                    </a:solidFill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A8B167F-F3C8-46C5-B565-DDB0557002FB}"/>
                    </a:ext>
                  </a:extLst>
                </p:cNvPr>
                <p:cNvSpPr txBox="1"/>
                <p:nvPr/>
              </p:nvSpPr>
              <p:spPr>
                <a:xfrm>
                  <a:off x="9012669" y="3916122"/>
                  <a:ext cx="5433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18</a:t>
                  </a:r>
                  <a:endParaRPr lang="ko-KR" altLang="en-US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D0E44DA-D312-4E6B-91D2-2AB7C43F1793}"/>
                    </a:ext>
                  </a:extLst>
                </p:cNvPr>
                <p:cNvSpPr txBox="1"/>
                <p:nvPr/>
              </p:nvSpPr>
              <p:spPr>
                <a:xfrm>
                  <a:off x="9484095" y="5365476"/>
                  <a:ext cx="5433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324</a:t>
                  </a:r>
                  <a:endParaRPr lang="ko-KR" altLang="en-US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endParaRPr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808CE30F-C342-411D-8526-64BCB92BB48F}"/>
                  </a:ext>
                </a:extLst>
              </p:cNvPr>
              <p:cNvGrpSpPr/>
              <p:nvPr/>
            </p:nvGrpSpPr>
            <p:grpSpPr>
              <a:xfrm>
                <a:off x="11054973" y="4128862"/>
                <a:ext cx="1060537" cy="1533260"/>
                <a:chOff x="11054973" y="4128862"/>
                <a:chExt cx="1060537" cy="1533260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FE76819-17B7-4A44-959B-B27D724C7632}"/>
                    </a:ext>
                  </a:extLst>
                </p:cNvPr>
                <p:cNvSpPr txBox="1"/>
                <p:nvPr/>
              </p:nvSpPr>
              <p:spPr>
                <a:xfrm>
                  <a:off x="11572176" y="4579188"/>
                  <a:ext cx="5433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972</a:t>
                  </a:r>
                  <a:endParaRPr lang="ko-KR" altLang="en-US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BBC1281-8666-46F7-A1A4-4EC19A237C67}"/>
                    </a:ext>
                  </a:extLst>
                </p:cNvPr>
                <p:cNvSpPr txBox="1"/>
                <p:nvPr/>
              </p:nvSpPr>
              <p:spPr>
                <a:xfrm>
                  <a:off x="11054973" y="5385123"/>
                  <a:ext cx="5433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324</a:t>
                  </a:r>
                  <a:endParaRPr lang="ko-KR" altLang="en-US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endParaRPr>
                </a:p>
              </p:txBody>
            </p:sp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ADF633B6-2828-4A08-B52D-920357F6E241}"/>
                    </a:ext>
                  </a:extLst>
                </p:cNvPr>
                <p:cNvSpPr/>
                <p:nvPr/>
              </p:nvSpPr>
              <p:spPr>
                <a:xfrm>
                  <a:off x="11054973" y="4128862"/>
                  <a:ext cx="543334" cy="1219945"/>
                </a:xfrm>
                <a:prstGeom prst="rect">
                  <a:avLst/>
                </a:prstGeom>
                <a:solidFill>
                  <a:srgbClr val="3876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A3E70BAE-2E66-40D2-A7FE-06C7BB1BC47E}"/>
                    </a:ext>
                  </a:extLst>
                </p:cNvPr>
                <p:cNvSpPr/>
                <p:nvPr/>
              </p:nvSpPr>
              <p:spPr>
                <a:xfrm>
                  <a:off x="11073842" y="4148738"/>
                  <a:ext cx="108000" cy="1182655"/>
                </a:xfrm>
                <a:prstGeom prst="rect">
                  <a:avLst/>
                </a:prstGeom>
                <a:solidFill>
                  <a:srgbClr val="95BDBA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0EA3D13-4B42-44A0-90F1-0FEF73B67288}"/>
                    </a:ext>
                  </a:extLst>
                </p:cNvPr>
                <p:cNvSpPr txBox="1"/>
                <p:nvPr/>
              </p:nvSpPr>
              <p:spPr>
                <a:xfrm>
                  <a:off x="11116880" y="5120077"/>
                  <a:ext cx="42569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00" dirty="0">
                      <a:solidFill>
                        <a:srgbClr val="95BDBA"/>
                      </a:solidFill>
                      <a:latin typeface="에스코어 드림 8 Heavy" panose="020B0903030302020204" pitchFamily="34" charset="-127"/>
                      <a:ea typeface="에스코어 드림 8 Heavy" panose="020B0903030302020204" pitchFamily="34" charset="-127"/>
                    </a:rPr>
                    <a:t>. . .</a:t>
                  </a:r>
                  <a:endParaRPr lang="ko-KR" altLang="en-US" sz="1000" dirty="0">
                    <a:solidFill>
                      <a:srgbClr val="95BDBA"/>
                    </a:solidFill>
                    <a:latin typeface="에스코어 드림 8 Heavy" panose="020B0903030302020204" pitchFamily="34" charset="-127"/>
                    <a:ea typeface="에스코어 드림 8 Heavy" panose="020B0903030302020204" pitchFamily="34" charset="-127"/>
                  </a:endParaRPr>
                </a:p>
              </p:txBody>
            </p:sp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67F31613-FE88-4C51-A4FD-B490E92FD942}"/>
                    </a:ext>
                  </a:extLst>
                </p:cNvPr>
                <p:cNvSpPr/>
                <p:nvPr/>
              </p:nvSpPr>
              <p:spPr>
                <a:xfrm>
                  <a:off x="11464176" y="4148738"/>
                  <a:ext cx="108000" cy="1182655"/>
                </a:xfrm>
                <a:prstGeom prst="rect">
                  <a:avLst/>
                </a:prstGeom>
                <a:solidFill>
                  <a:srgbClr val="95BDBA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cxnSp>
            <p:nvCxnSpPr>
              <p:cNvPr id="28" name="직선 화살표 연결선 27">
                <a:extLst>
                  <a:ext uri="{FF2B5EF4-FFF2-40B4-BE49-F238E27FC236}">
                    <a16:creationId xmlns:a16="http://schemas.microsoft.com/office/drawing/2014/main" id="{844574C4-BCA5-4258-AA0F-86F9B2BCF3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3734" y="4812814"/>
                <a:ext cx="576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FCC9E4-1407-437E-849D-18D4A6B9713C}"/>
                  </a:ext>
                </a:extLst>
              </p:cNvPr>
              <p:cNvSpPr txBox="1"/>
              <p:nvPr/>
            </p:nvSpPr>
            <p:spPr>
              <a:xfrm>
                <a:off x="10079307" y="4519755"/>
                <a:ext cx="9848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 err="1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tf.reshape</a:t>
                </a:r>
                <a:endParaRPr lang="ko-KR" altLang="en-US" sz="10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35C0A8C-DAF7-4725-8D3B-30D8D09840BB}"/>
                </a:ext>
              </a:extLst>
            </p:cNvPr>
            <p:cNvSpPr txBox="1"/>
            <p:nvPr/>
          </p:nvSpPr>
          <p:spPr>
            <a:xfrm>
              <a:off x="10752570" y="3866407"/>
              <a:ext cx="9848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2D</a:t>
              </a:r>
              <a:r>
                <a:rPr lang="ko-KR" altLang="en-US" sz="10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lang="en-US" altLang="ko-KR" sz="10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Patch</a:t>
              </a:r>
              <a:endParaRPr lang="ko-KR" altLang="en-US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7286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>
            <a:normAutofit/>
          </a:bodyPr>
          <a:lstStyle/>
          <a:p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– Class Token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Make Learnable Class Token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C27601-D6BC-4E9E-A3F1-C34A789BB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99" y="2165254"/>
            <a:ext cx="7211431" cy="35437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2BA44E-BE0E-4F7E-BEDF-6CBD3F4BB059}"/>
              </a:ext>
            </a:extLst>
          </p:cNvPr>
          <p:cNvSpPr txBox="1"/>
          <p:nvPr/>
        </p:nvSpPr>
        <p:spPr>
          <a:xfrm>
            <a:off x="8062330" y="5432050"/>
            <a:ext cx="2581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dimension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=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972 (18*18*3)</a:t>
            </a:r>
            <a:endParaRPr lang="ko-KR" altLang="en-US" sz="12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532798-7EF8-4B43-AAE6-8ADB065FA8E6}"/>
              </a:ext>
            </a:extLst>
          </p:cNvPr>
          <p:cNvSpPr/>
          <p:nvPr/>
        </p:nvSpPr>
        <p:spPr>
          <a:xfrm>
            <a:off x="3594247" y="3624760"/>
            <a:ext cx="921129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92EE319-5A20-438F-87CC-E161B86B3B8E}"/>
              </a:ext>
            </a:extLst>
          </p:cNvPr>
          <p:cNvGrpSpPr/>
          <p:nvPr/>
        </p:nvGrpSpPr>
        <p:grpSpPr>
          <a:xfrm>
            <a:off x="8644835" y="2803109"/>
            <a:ext cx="2207035" cy="1980525"/>
            <a:chOff x="8644835" y="2803109"/>
            <a:chExt cx="2207035" cy="198052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443B36-7F20-4EA1-B980-5EA1EBA859AC}"/>
                </a:ext>
              </a:extLst>
            </p:cNvPr>
            <p:cNvSpPr txBox="1"/>
            <p:nvPr/>
          </p:nvSpPr>
          <p:spPr>
            <a:xfrm>
              <a:off x="8644835" y="3723121"/>
              <a:ext cx="54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972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95DB9B-477E-4887-93EC-230912F4A007}"/>
                </a:ext>
              </a:extLst>
            </p:cNvPr>
            <p:cNvSpPr txBox="1"/>
            <p:nvPr/>
          </p:nvSpPr>
          <p:spPr>
            <a:xfrm>
              <a:off x="9415634" y="4506635"/>
              <a:ext cx="54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324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173C2E3-9EAC-40C9-B63C-BB5A3B9DABD8}"/>
                </a:ext>
              </a:extLst>
            </p:cNvPr>
            <p:cNvSpPr/>
            <p:nvPr/>
          </p:nvSpPr>
          <p:spPr>
            <a:xfrm>
              <a:off x="9415634" y="3250374"/>
              <a:ext cx="543334" cy="1219945"/>
            </a:xfrm>
            <a:prstGeom prst="rect">
              <a:avLst/>
            </a:prstGeom>
            <a:solidFill>
              <a:srgbClr val="3876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C3BCB26-2987-48B2-B428-F623779289CC}"/>
                </a:ext>
              </a:extLst>
            </p:cNvPr>
            <p:cNvSpPr/>
            <p:nvPr/>
          </p:nvSpPr>
          <p:spPr>
            <a:xfrm>
              <a:off x="9143516" y="3250374"/>
              <a:ext cx="221836" cy="1219945"/>
            </a:xfrm>
            <a:prstGeom prst="rect">
              <a:avLst/>
            </a:prstGeom>
            <a:solidFill>
              <a:srgbClr val="76AD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64CC10-B6D3-417D-B519-39A7C8231709}"/>
                </a:ext>
              </a:extLst>
            </p:cNvPr>
            <p:cNvSpPr txBox="1"/>
            <p:nvPr/>
          </p:nvSpPr>
          <p:spPr>
            <a:xfrm>
              <a:off x="8982767" y="4505968"/>
              <a:ext cx="54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1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4" name="설명선: 굽은 선 13">
              <a:extLst>
                <a:ext uri="{FF2B5EF4-FFF2-40B4-BE49-F238E27FC236}">
                  <a16:creationId xmlns:a16="http://schemas.microsoft.com/office/drawing/2014/main" id="{9F851A1E-BCFF-4FF8-A408-038822C0E58E}"/>
                </a:ext>
              </a:extLst>
            </p:cNvPr>
            <p:cNvSpPr/>
            <p:nvPr/>
          </p:nvSpPr>
          <p:spPr>
            <a:xfrm>
              <a:off x="9687301" y="2803109"/>
              <a:ext cx="990256" cy="369332"/>
            </a:xfrm>
            <a:prstGeom prst="borderCallout2">
              <a:avLst>
                <a:gd name="adj1" fmla="val 46661"/>
                <a:gd name="adj2" fmla="val -89"/>
                <a:gd name="adj3" fmla="val 46661"/>
                <a:gd name="adj4" fmla="val -16667"/>
                <a:gd name="adj5" fmla="val 126456"/>
                <a:gd name="adj6" fmla="val -45018"/>
              </a:avLst>
            </a:prstGeom>
            <a:noFill/>
            <a:ln w="28575">
              <a:solidFill>
                <a:srgbClr val="2247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84F9B2-1973-49BB-9B17-A5B48F638EBD}"/>
                </a:ext>
              </a:extLst>
            </p:cNvPr>
            <p:cNvSpPr txBox="1"/>
            <p:nvPr/>
          </p:nvSpPr>
          <p:spPr>
            <a:xfrm>
              <a:off x="9534883" y="2849275"/>
              <a:ext cx="13169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Class Token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AC9E6D6-11AA-4408-BF2D-33CA3C6A26A8}"/>
                </a:ext>
              </a:extLst>
            </p:cNvPr>
            <p:cNvSpPr/>
            <p:nvPr/>
          </p:nvSpPr>
          <p:spPr>
            <a:xfrm>
              <a:off x="9434503" y="3270250"/>
              <a:ext cx="108000" cy="1182655"/>
            </a:xfrm>
            <a:prstGeom prst="rect">
              <a:avLst/>
            </a:prstGeom>
            <a:solidFill>
              <a:srgbClr val="95BDB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1A0114-C4F5-4267-9022-AA6D997757A9}"/>
                </a:ext>
              </a:extLst>
            </p:cNvPr>
            <p:cNvSpPr txBox="1"/>
            <p:nvPr/>
          </p:nvSpPr>
          <p:spPr>
            <a:xfrm>
              <a:off x="9477541" y="4241589"/>
              <a:ext cx="4256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95BDBA"/>
                  </a:solidFill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. . .</a:t>
              </a:r>
              <a:endParaRPr lang="ko-KR" altLang="en-US" sz="1000" dirty="0">
                <a:solidFill>
                  <a:srgbClr val="95BDBA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AA00794-47A0-4C33-9AB1-3589B1266EF7}"/>
                </a:ext>
              </a:extLst>
            </p:cNvPr>
            <p:cNvSpPr/>
            <p:nvPr/>
          </p:nvSpPr>
          <p:spPr>
            <a:xfrm>
              <a:off x="9824837" y="3270250"/>
              <a:ext cx="108000" cy="1182655"/>
            </a:xfrm>
            <a:prstGeom prst="rect">
              <a:avLst/>
            </a:prstGeom>
            <a:solidFill>
              <a:srgbClr val="95BDB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05072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– Transformer Encoder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4828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Split Heads from Input Data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CF6AC3-8A0F-4E62-9BB9-556BD465D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99" y="2167200"/>
            <a:ext cx="5039428" cy="10669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2DF21F6-105E-4DE9-96CD-9EDB73F8AF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78"/>
          <a:stretch/>
        </p:blipFill>
        <p:spPr>
          <a:xfrm>
            <a:off x="850899" y="4021394"/>
            <a:ext cx="5039428" cy="18766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809F0A-CBA7-4515-931E-125519E2EABA}"/>
              </a:ext>
            </a:extLst>
          </p:cNvPr>
          <p:cNvSpPr txBox="1"/>
          <p:nvPr/>
        </p:nvSpPr>
        <p:spPr>
          <a:xfrm>
            <a:off x="609600" y="3604099"/>
            <a:ext cx="374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Scaled Dot Product Attention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4E0AE3-C794-4BB4-BCBA-89C93083CB5F}"/>
              </a:ext>
            </a:extLst>
          </p:cNvPr>
          <p:cNvSpPr txBox="1"/>
          <p:nvPr/>
        </p:nvSpPr>
        <p:spPr>
          <a:xfrm>
            <a:off x="7591978" y="3606249"/>
            <a:ext cx="3875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batch_size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num_heads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sequence_length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depth)</a:t>
            </a:r>
            <a:endParaRPr lang="ko-KR" altLang="en-US" sz="1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9280EE-20C3-437A-942C-96B008FFF4B7}"/>
              </a:ext>
            </a:extLst>
          </p:cNvPr>
          <p:cNvSpPr txBox="1"/>
          <p:nvPr/>
        </p:nvSpPr>
        <p:spPr>
          <a:xfrm>
            <a:off x="7596205" y="4836626"/>
            <a:ext cx="45496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batch_size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num_heads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sequence_length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depth)</a:t>
            </a:r>
            <a:endParaRPr lang="ko-KR" altLang="en-US" sz="1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C591FD-0B6B-4321-B996-F80752C04A77}"/>
              </a:ext>
            </a:extLst>
          </p:cNvPr>
          <p:cNvSpPr txBox="1"/>
          <p:nvPr/>
        </p:nvSpPr>
        <p:spPr>
          <a:xfrm>
            <a:off x="844584" y="3234149"/>
            <a:ext cx="42137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dimension (972) → </a:t>
            </a:r>
            <a:r>
              <a:rPr lang="en-US" altLang="ko-KR" sz="12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num_heads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= 18, depth = 54</a:t>
            </a:r>
            <a:endParaRPr lang="ko-KR" altLang="en-US" sz="12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20DE1CD-98A8-4109-9D3B-701B22582C63}"/>
              </a:ext>
            </a:extLst>
          </p:cNvPr>
          <p:cNvGrpSpPr/>
          <p:nvPr/>
        </p:nvGrpSpPr>
        <p:grpSpPr>
          <a:xfrm>
            <a:off x="6695837" y="3521809"/>
            <a:ext cx="900369" cy="399107"/>
            <a:chOff x="7550042" y="6053100"/>
            <a:chExt cx="900369" cy="399107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FEA096F-6D7A-4727-9190-9F58CB1C3CBB}"/>
                </a:ext>
              </a:extLst>
            </p:cNvPr>
            <p:cNvSpPr/>
            <p:nvPr/>
          </p:nvSpPr>
          <p:spPr>
            <a:xfrm>
              <a:off x="7550043" y="6053100"/>
              <a:ext cx="900368" cy="399107"/>
            </a:xfrm>
            <a:prstGeom prst="roundRect">
              <a:avLst/>
            </a:prstGeom>
            <a:solidFill>
              <a:srgbClr val="81B1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9F8D834-203B-4B75-94E3-695D011C32AE}"/>
                </a:ext>
              </a:extLst>
            </p:cNvPr>
            <p:cNvSpPr txBox="1"/>
            <p:nvPr/>
          </p:nvSpPr>
          <p:spPr>
            <a:xfrm>
              <a:off x="7550042" y="6085960"/>
              <a:ext cx="90036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output</a:t>
              </a:r>
              <a:endParaRPr lang="ko-KR" altLang="en-US" sz="15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98B9D06-6B64-4BCD-A44B-C9CEEDA612B4}"/>
              </a:ext>
            </a:extLst>
          </p:cNvPr>
          <p:cNvGrpSpPr/>
          <p:nvPr/>
        </p:nvGrpSpPr>
        <p:grpSpPr>
          <a:xfrm>
            <a:off x="6699502" y="4755362"/>
            <a:ext cx="900369" cy="399107"/>
            <a:chOff x="7550042" y="6053100"/>
            <a:chExt cx="900369" cy="399107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56B51DE4-D923-4DD8-BF1D-2CA61AC59FFA}"/>
                </a:ext>
              </a:extLst>
            </p:cNvPr>
            <p:cNvSpPr/>
            <p:nvPr/>
          </p:nvSpPr>
          <p:spPr>
            <a:xfrm>
              <a:off x="7550043" y="6053100"/>
              <a:ext cx="900368" cy="399107"/>
            </a:xfrm>
            <a:prstGeom prst="roundRect">
              <a:avLst/>
            </a:prstGeom>
            <a:solidFill>
              <a:srgbClr val="81B1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9B4D72C-437F-4326-B2CD-5AB9C9DC5E95}"/>
                </a:ext>
              </a:extLst>
            </p:cNvPr>
            <p:cNvSpPr txBox="1"/>
            <p:nvPr/>
          </p:nvSpPr>
          <p:spPr>
            <a:xfrm>
              <a:off x="7550042" y="6085960"/>
              <a:ext cx="90036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Q, K, V</a:t>
              </a:r>
              <a:endParaRPr lang="ko-KR" altLang="en-US" sz="15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832365D-47AE-466B-8FF4-935CE5C79DC2}"/>
              </a:ext>
            </a:extLst>
          </p:cNvPr>
          <p:cNvSpPr/>
          <p:nvPr/>
        </p:nvSpPr>
        <p:spPr>
          <a:xfrm>
            <a:off x="7749602" y="1938277"/>
            <a:ext cx="110918" cy="1216800"/>
          </a:xfrm>
          <a:prstGeom prst="rect">
            <a:avLst/>
          </a:prstGeom>
          <a:solidFill>
            <a:srgbClr val="76A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01575B1-0A42-46B6-8BDA-1FA5F01F3812}"/>
              </a:ext>
            </a:extLst>
          </p:cNvPr>
          <p:cNvGrpSpPr/>
          <p:nvPr/>
        </p:nvGrpSpPr>
        <p:grpSpPr>
          <a:xfrm>
            <a:off x="7292339" y="1932087"/>
            <a:ext cx="2811182" cy="1490107"/>
            <a:chOff x="7292339" y="1932087"/>
            <a:chExt cx="2811182" cy="1490107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25866D4-1E4C-4555-86CE-72255DD236BB}"/>
                </a:ext>
              </a:extLst>
            </p:cNvPr>
            <p:cNvGrpSpPr/>
            <p:nvPr/>
          </p:nvGrpSpPr>
          <p:grpSpPr>
            <a:xfrm>
              <a:off x="7292339" y="1932087"/>
              <a:ext cx="2811182" cy="1490107"/>
              <a:chOff x="7189415" y="2167200"/>
              <a:chExt cx="2811182" cy="1490107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A49F8D7-04B5-4282-82C6-CEF67FCDCAC4}"/>
                  </a:ext>
                </a:extLst>
              </p:cNvPr>
              <p:cNvSpPr/>
              <p:nvPr/>
            </p:nvSpPr>
            <p:spPr>
              <a:xfrm>
                <a:off x="7645200" y="2167200"/>
                <a:ext cx="691404" cy="1219945"/>
              </a:xfrm>
              <a:prstGeom prst="rect">
                <a:avLst/>
              </a:prstGeom>
              <a:solidFill>
                <a:srgbClr val="3876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C099FF-671F-40AB-A8F8-2D444EB77E5B}"/>
                  </a:ext>
                </a:extLst>
              </p:cNvPr>
              <p:cNvSpPr txBox="1"/>
              <p:nvPr/>
            </p:nvSpPr>
            <p:spPr>
              <a:xfrm>
                <a:off x="7189415" y="2638672"/>
                <a:ext cx="5433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972</a:t>
                </a:r>
                <a:endParaRPr lang="ko-KR" altLang="en-US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63E9E4-55F2-4900-8E3F-B69C9945B7A9}"/>
                  </a:ext>
                </a:extLst>
              </p:cNvPr>
              <p:cNvSpPr txBox="1"/>
              <p:nvPr/>
            </p:nvSpPr>
            <p:spPr>
              <a:xfrm>
                <a:off x="7713796" y="3380308"/>
                <a:ext cx="5433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325</a:t>
                </a:r>
                <a:endParaRPr lang="ko-KR" altLang="en-US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88DF7AB-C823-420E-B62D-F54D3CBED531}"/>
                  </a:ext>
                </a:extLst>
              </p:cNvPr>
              <p:cNvSpPr/>
              <p:nvPr/>
            </p:nvSpPr>
            <p:spPr>
              <a:xfrm>
                <a:off x="8765859" y="2167200"/>
                <a:ext cx="691404" cy="1219945"/>
              </a:xfrm>
              <a:prstGeom prst="rect">
                <a:avLst/>
              </a:prstGeom>
              <a:noFill/>
              <a:ln w="28575">
                <a:solidFill>
                  <a:srgbClr val="38768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32E704E2-F0DE-40BD-BD4E-42A2DB3818ED}"/>
                  </a:ext>
                </a:extLst>
              </p:cNvPr>
              <p:cNvSpPr/>
              <p:nvPr/>
            </p:nvSpPr>
            <p:spPr>
              <a:xfrm>
                <a:off x="8805561" y="3206110"/>
                <a:ext cx="612000" cy="150790"/>
              </a:xfrm>
              <a:prstGeom prst="rect">
                <a:avLst/>
              </a:prstGeom>
              <a:solidFill>
                <a:srgbClr val="76AD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1F3581-9114-4164-882C-3FE8D9B74626}"/>
                  </a:ext>
                </a:extLst>
              </p:cNvPr>
              <p:cNvSpPr txBox="1"/>
              <p:nvPr/>
            </p:nvSpPr>
            <p:spPr>
              <a:xfrm rot="5400000">
                <a:off x="8819134" y="2597274"/>
                <a:ext cx="694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에스코어 드림 8 Heavy" panose="020B0903030302020204" pitchFamily="34" charset="-127"/>
                    <a:ea typeface="에스코어 드림 8 Heavy" panose="020B0903030302020204" pitchFamily="34" charset="-127"/>
                  </a:rPr>
                  <a:t>. . .</a:t>
                </a:r>
                <a:endParaRPr lang="ko-KR" altLang="en-US" dirty="0">
                  <a:latin typeface="에스코어 드림 8 Heavy" panose="020B0903030302020204" pitchFamily="34" charset="-127"/>
                  <a:ea typeface="에스코어 드림 8 Heavy" panose="020B0903030302020204" pitchFamily="34" charset="-127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C11BC35B-2B8D-40D3-8E89-622E37FDB31A}"/>
                  </a:ext>
                </a:extLst>
              </p:cNvPr>
              <p:cNvSpPr/>
              <p:nvPr/>
            </p:nvSpPr>
            <p:spPr>
              <a:xfrm>
                <a:off x="8805561" y="2213881"/>
                <a:ext cx="612000" cy="150790"/>
              </a:xfrm>
              <a:prstGeom prst="rect">
                <a:avLst/>
              </a:prstGeom>
              <a:solidFill>
                <a:srgbClr val="76AD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AE504E-408A-49F9-884D-9837A6659C37}"/>
                  </a:ext>
                </a:extLst>
              </p:cNvPr>
              <p:cNvSpPr txBox="1"/>
              <p:nvPr/>
            </p:nvSpPr>
            <p:spPr>
              <a:xfrm>
                <a:off x="8361450" y="3154137"/>
                <a:ext cx="5433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54</a:t>
                </a:r>
                <a:endParaRPr lang="ko-KR" altLang="en-US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5" name="오른쪽 대괄호 4">
                <a:extLst>
                  <a:ext uri="{FF2B5EF4-FFF2-40B4-BE49-F238E27FC236}">
                    <a16:creationId xmlns:a16="http://schemas.microsoft.com/office/drawing/2014/main" id="{67F52410-3F8D-4316-B96C-831181B22DFB}"/>
                  </a:ext>
                </a:extLst>
              </p:cNvPr>
              <p:cNvSpPr/>
              <p:nvPr/>
            </p:nvSpPr>
            <p:spPr>
              <a:xfrm>
                <a:off x="9499312" y="2213881"/>
                <a:ext cx="83449" cy="1143019"/>
              </a:xfrm>
              <a:prstGeom prst="rightBracke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ED8807-438F-447E-A853-FC78D2EE0C20}"/>
                  </a:ext>
                </a:extLst>
              </p:cNvPr>
              <p:cNvSpPr txBox="1"/>
              <p:nvPr/>
            </p:nvSpPr>
            <p:spPr>
              <a:xfrm>
                <a:off x="9457263" y="2652901"/>
                <a:ext cx="5433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18</a:t>
                </a:r>
                <a:endParaRPr lang="ko-KR" altLang="en-US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4B1A880-854A-43FB-A181-BAA8998C7198}"/>
                </a:ext>
              </a:extLst>
            </p:cNvPr>
            <p:cNvSpPr txBox="1"/>
            <p:nvPr/>
          </p:nvSpPr>
          <p:spPr>
            <a:xfrm>
              <a:off x="8942818" y="3141963"/>
              <a:ext cx="54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325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783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– Transformer Encoder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2563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Multi Head Attention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ECFD6F-A7D5-410A-B855-ECFB86146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99" y="2167200"/>
            <a:ext cx="5480319" cy="42953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EE467D-5569-40A5-AAC1-978B3F94DC62}"/>
              </a:ext>
            </a:extLst>
          </p:cNvPr>
          <p:cNvSpPr txBox="1"/>
          <p:nvPr/>
        </p:nvSpPr>
        <p:spPr>
          <a:xfrm>
            <a:off x="7599872" y="5764582"/>
            <a:ext cx="32756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batch_size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sequence_length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dimension)</a:t>
            </a:r>
            <a:endParaRPr lang="ko-KR" altLang="en-US" sz="1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F60A44-850F-43CB-8BAF-6D9D0C12B4B1}"/>
              </a:ext>
            </a:extLst>
          </p:cNvPr>
          <p:cNvSpPr txBox="1"/>
          <p:nvPr/>
        </p:nvSpPr>
        <p:spPr>
          <a:xfrm>
            <a:off x="7599871" y="4849037"/>
            <a:ext cx="32756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batch_size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num_heads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sequence_length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depth)</a:t>
            </a:r>
            <a:endParaRPr lang="ko-KR" altLang="en-US" sz="1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E5788FB-DC6B-4900-9B1F-4FC30BCF47B0}"/>
              </a:ext>
            </a:extLst>
          </p:cNvPr>
          <p:cNvGrpSpPr/>
          <p:nvPr/>
        </p:nvGrpSpPr>
        <p:grpSpPr>
          <a:xfrm>
            <a:off x="6699503" y="4724082"/>
            <a:ext cx="900368" cy="461665"/>
            <a:chOff x="7550043" y="6021820"/>
            <a:chExt cx="900368" cy="461665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AEABA35-7618-4168-AB85-72D0D5407AD9}"/>
                </a:ext>
              </a:extLst>
            </p:cNvPr>
            <p:cNvSpPr/>
            <p:nvPr/>
          </p:nvSpPr>
          <p:spPr>
            <a:xfrm>
              <a:off x="7550043" y="6053100"/>
              <a:ext cx="900368" cy="399107"/>
            </a:xfrm>
            <a:prstGeom prst="roundRect">
              <a:avLst/>
            </a:prstGeom>
            <a:solidFill>
              <a:srgbClr val="81B1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43D59A-E22B-4E18-8568-994D487C86B0}"/>
                </a:ext>
              </a:extLst>
            </p:cNvPr>
            <p:cNvSpPr txBox="1"/>
            <p:nvPr/>
          </p:nvSpPr>
          <p:spPr>
            <a:xfrm>
              <a:off x="7550043" y="6021820"/>
              <a:ext cx="9003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err="1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attentionscore</a:t>
              </a:r>
              <a:endParaRPr lang="ko-KR" altLang="en-US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B499B0A-6769-40A2-8E1F-4D6A1ACE1DFB}"/>
              </a:ext>
            </a:extLst>
          </p:cNvPr>
          <p:cNvGrpSpPr/>
          <p:nvPr/>
        </p:nvGrpSpPr>
        <p:grpSpPr>
          <a:xfrm>
            <a:off x="6699503" y="5670929"/>
            <a:ext cx="900368" cy="461665"/>
            <a:chOff x="7550043" y="6021820"/>
            <a:chExt cx="900368" cy="461665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CEA1D35-0BE0-4AED-B06F-EF23AB58D800}"/>
                </a:ext>
              </a:extLst>
            </p:cNvPr>
            <p:cNvSpPr/>
            <p:nvPr/>
          </p:nvSpPr>
          <p:spPr>
            <a:xfrm>
              <a:off x="7550043" y="6053100"/>
              <a:ext cx="900368" cy="399107"/>
            </a:xfrm>
            <a:prstGeom prst="roundRect">
              <a:avLst/>
            </a:prstGeom>
            <a:solidFill>
              <a:srgbClr val="81B1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9BBD93-754A-407D-916D-E06FAB1048A3}"/>
                </a:ext>
              </a:extLst>
            </p:cNvPr>
            <p:cNvSpPr txBox="1"/>
            <p:nvPr/>
          </p:nvSpPr>
          <p:spPr>
            <a:xfrm>
              <a:off x="7550043" y="6021820"/>
              <a:ext cx="9003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err="1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concat</a:t>
              </a:r>
              <a:endPara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attention</a:t>
              </a:r>
              <a:endParaRPr lang="ko-KR" altLang="en-US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13E18DD-0D01-43A0-BFC9-AEF32B98FB33}"/>
              </a:ext>
            </a:extLst>
          </p:cNvPr>
          <p:cNvSpPr txBox="1"/>
          <p:nvPr/>
        </p:nvSpPr>
        <p:spPr>
          <a:xfrm>
            <a:off x="7599871" y="5308201"/>
            <a:ext cx="34410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batch_size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sequence_length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num_heads</a:t>
            </a:r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depth)</a:t>
            </a:r>
            <a:endParaRPr lang="ko-KR" altLang="en-US" sz="1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7D42B5-91A1-413D-9567-193879CA71AD}"/>
              </a:ext>
            </a:extLst>
          </p:cNvPr>
          <p:cNvGrpSpPr/>
          <p:nvPr/>
        </p:nvGrpSpPr>
        <p:grpSpPr>
          <a:xfrm>
            <a:off x="6699503" y="5189277"/>
            <a:ext cx="900368" cy="461665"/>
            <a:chOff x="7550043" y="6021820"/>
            <a:chExt cx="900368" cy="461665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A0434CC-F6FF-44B3-88EC-64799C8FBC8A}"/>
                </a:ext>
              </a:extLst>
            </p:cNvPr>
            <p:cNvSpPr/>
            <p:nvPr/>
          </p:nvSpPr>
          <p:spPr>
            <a:xfrm>
              <a:off x="7550043" y="6053100"/>
              <a:ext cx="900368" cy="399107"/>
            </a:xfrm>
            <a:prstGeom prst="roundRect">
              <a:avLst/>
            </a:prstGeom>
            <a:solidFill>
              <a:srgbClr val="81B1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A0DE94-C58B-404F-A573-44A5D97CDBE3}"/>
                </a:ext>
              </a:extLst>
            </p:cNvPr>
            <p:cNvSpPr txBox="1"/>
            <p:nvPr/>
          </p:nvSpPr>
          <p:spPr>
            <a:xfrm>
              <a:off x="7550043" y="6021820"/>
              <a:ext cx="9003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scaled</a:t>
              </a:r>
            </a:p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attention</a:t>
              </a:r>
              <a:endParaRPr lang="ko-KR" altLang="en-US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88BE15C-643F-49AC-BF73-CFF80A49535A}"/>
              </a:ext>
            </a:extLst>
          </p:cNvPr>
          <p:cNvCxnSpPr/>
          <p:nvPr/>
        </p:nvCxnSpPr>
        <p:spPr>
          <a:xfrm>
            <a:off x="2492343" y="6020530"/>
            <a:ext cx="6517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6E46280-FEE9-49B7-BDA9-EDAE70CF21F7}"/>
              </a:ext>
            </a:extLst>
          </p:cNvPr>
          <p:cNvGrpSpPr/>
          <p:nvPr/>
        </p:nvGrpSpPr>
        <p:grpSpPr>
          <a:xfrm>
            <a:off x="6699503" y="2624613"/>
            <a:ext cx="3763924" cy="1772928"/>
            <a:chOff x="6699503" y="2588931"/>
            <a:chExt cx="3763924" cy="1772928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DA0D540-F5D5-40CC-86E5-2BB3718EC7DB}"/>
                </a:ext>
              </a:extLst>
            </p:cNvPr>
            <p:cNvSpPr/>
            <p:nvPr/>
          </p:nvSpPr>
          <p:spPr>
            <a:xfrm>
              <a:off x="7103912" y="2874984"/>
              <a:ext cx="691404" cy="1219945"/>
            </a:xfrm>
            <a:prstGeom prst="rect">
              <a:avLst/>
            </a:prstGeom>
            <a:noFill/>
            <a:ln w="28575">
              <a:solidFill>
                <a:srgbClr val="3876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C85E21A-E975-44F2-8104-49F7257D3F7F}"/>
                </a:ext>
              </a:extLst>
            </p:cNvPr>
            <p:cNvSpPr/>
            <p:nvPr/>
          </p:nvSpPr>
          <p:spPr>
            <a:xfrm>
              <a:off x="7143614" y="3913894"/>
              <a:ext cx="612000" cy="150790"/>
            </a:xfrm>
            <a:prstGeom prst="rect">
              <a:avLst/>
            </a:prstGeom>
            <a:solidFill>
              <a:srgbClr val="76AD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12476D4-8F70-43F7-BD01-ECC053EF69B2}"/>
                </a:ext>
              </a:extLst>
            </p:cNvPr>
            <p:cNvSpPr txBox="1"/>
            <p:nvPr/>
          </p:nvSpPr>
          <p:spPr>
            <a:xfrm rot="5400000">
              <a:off x="7157187" y="3305058"/>
              <a:ext cx="694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. . .</a:t>
              </a:r>
              <a:endPara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95E92A5-A00A-405A-8EC3-B74B16A8A8A1}"/>
                </a:ext>
              </a:extLst>
            </p:cNvPr>
            <p:cNvSpPr/>
            <p:nvPr/>
          </p:nvSpPr>
          <p:spPr>
            <a:xfrm>
              <a:off x="7143614" y="2921665"/>
              <a:ext cx="612000" cy="150790"/>
            </a:xfrm>
            <a:prstGeom prst="rect">
              <a:avLst/>
            </a:prstGeom>
            <a:solidFill>
              <a:srgbClr val="76AD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3A3E16-8555-47F9-AA85-AE93CF9CADED}"/>
                </a:ext>
              </a:extLst>
            </p:cNvPr>
            <p:cNvSpPr txBox="1"/>
            <p:nvPr/>
          </p:nvSpPr>
          <p:spPr>
            <a:xfrm>
              <a:off x="6699503" y="3861921"/>
              <a:ext cx="54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54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31" name="오른쪽 대괄호 30">
              <a:extLst>
                <a:ext uri="{FF2B5EF4-FFF2-40B4-BE49-F238E27FC236}">
                  <a16:creationId xmlns:a16="http://schemas.microsoft.com/office/drawing/2014/main" id="{020466AD-D765-4FF9-9C60-CFFA01C2962E}"/>
                </a:ext>
              </a:extLst>
            </p:cNvPr>
            <p:cNvSpPr/>
            <p:nvPr/>
          </p:nvSpPr>
          <p:spPr>
            <a:xfrm>
              <a:off x="7837365" y="2921665"/>
              <a:ext cx="83449" cy="1143019"/>
            </a:xfrm>
            <a:prstGeom prst="rightBracke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9E70E9-1BB5-4189-8236-964420AD9CC8}"/>
                </a:ext>
              </a:extLst>
            </p:cNvPr>
            <p:cNvSpPr txBox="1"/>
            <p:nvPr/>
          </p:nvSpPr>
          <p:spPr>
            <a:xfrm>
              <a:off x="7795316" y="3360685"/>
              <a:ext cx="54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18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73B3144-5ED3-4426-9302-82E31AF79870}"/>
                </a:ext>
              </a:extLst>
            </p:cNvPr>
            <p:cNvSpPr txBox="1"/>
            <p:nvPr/>
          </p:nvSpPr>
          <p:spPr>
            <a:xfrm>
              <a:off x="7177947" y="4084860"/>
              <a:ext cx="54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325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4E78FB1E-3D02-4949-A77A-A16631BDC1EA}"/>
                </a:ext>
              </a:extLst>
            </p:cNvPr>
            <p:cNvCxnSpPr/>
            <p:nvPr/>
          </p:nvCxnSpPr>
          <p:spPr>
            <a:xfrm>
              <a:off x="8369081" y="3487666"/>
              <a:ext cx="576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DDB9A59-CEB6-4DA5-BF34-577B24FDAEA3}"/>
                </a:ext>
              </a:extLst>
            </p:cNvPr>
            <p:cNvSpPr txBox="1"/>
            <p:nvPr/>
          </p:nvSpPr>
          <p:spPr>
            <a:xfrm>
              <a:off x="8164654" y="3194607"/>
              <a:ext cx="9848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tf.reshape</a:t>
              </a:r>
              <a:endParaRPr lang="ko-KR" altLang="en-US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EBC99B0-2412-455E-8FFD-A0B09775EDE4}"/>
                </a:ext>
              </a:extLst>
            </p:cNvPr>
            <p:cNvSpPr/>
            <p:nvPr/>
          </p:nvSpPr>
          <p:spPr>
            <a:xfrm>
              <a:off x="9200415" y="2864915"/>
              <a:ext cx="691404" cy="1219945"/>
            </a:xfrm>
            <a:prstGeom prst="rect">
              <a:avLst/>
            </a:prstGeom>
            <a:solidFill>
              <a:srgbClr val="3876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9B451EB-EB51-4072-9ACA-B2E926FFDCEA}"/>
                </a:ext>
              </a:extLst>
            </p:cNvPr>
            <p:cNvSpPr txBox="1"/>
            <p:nvPr/>
          </p:nvSpPr>
          <p:spPr>
            <a:xfrm>
              <a:off x="9920093" y="3350439"/>
              <a:ext cx="54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972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58F7A18-1C9B-4B66-8DED-8D6D21E96BF8}"/>
                </a:ext>
              </a:extLst>
            </p:cNvPr>
            <p:cNvSpPr txBox="1"/>
            <p:nvPr/>
          </p:nvSpPr>
          <p:spPr>
            <a:xfrm>
              <a:off x="9269011" y="4078023"/>
              <a:ext cx="54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325</a:t>
              </a:r>
              <a:endPara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F440EB1-9CC4-46F1-BDD1-DFB9AA42A8A4}"/>
                </a:ext>
              </a:extLst>
            </p:cNvPr>
            <p:cNvSpPr txBox="1"/>
            <p:nvPr/>
          </p:nvSpPr>
          <p:spPr>
            <a:xfrm>
              <a:off x="6765874" y="2591846"/>
              <a:ext cx="1367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scaled_attention</a:t>
              </a:r>
              <a:endParaRPr lang="ko-KR" altLang="en-US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B075907-9BD7-46C5-9603-6DE392CB2D26}"/>
                </a:ext>
              </a:extLst>
            </p:cNvPr>
            <p:cNvSpPr txBox="1"/>
            <p:nvPr/>
          </p:nvSpPr>
          <p:spPr>
            <a:xfrm>
              <a:off x="8856938" y="2588931"/>
              <a:ext cx="1367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concat_attention</a:t>
              </a:r>
              <a:endParaRPr lang="ko-KR" altLang="en-US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9448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– Transformer Encoder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MLP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A1E5DA-D4C4-4C34-8900-09E10B0FC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99" y="4207111"/>
            <a:ext cx="5896798" cy="1657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CB7362-159F-4ECB-B2C1-3191DBBEB0F1}"/>
              </a:ext>
            </a:extLst>
          </p:cNvPr>
          <p:cNvSpPr txBox="1"/>
          <p:nvPr/>
        </p:nvSpPr>
        <p:spPr>
          <a:xfrm>
            <a:off x="609600" y="3759562"/>
            <a:ext cx="61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Transformer Encoder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664CD8F-BA7E-4BAB-B08F-955228D1B9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96"/>
          <a:stretch/>
        </p:blipFill>
        <p:spPr>
          <a:xfrm>
            <a:off x="850899" y="2167200"/>
            <a:ext cx="5896798" cy="105742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E6B1F0-27F5-415B-824A-DB51FE4C694B}"/>
              </a:ext>
            </a:extLst>
          </p:cNvPr>
          <p:cNvSpPr/>
          <p:nvPr/>
        </p:nvSpPr>
        <p:spPr>
          <a:xfrm>
            <a:off x="5247540" y="2589763"/>
            <a:ext cx="390649" cy="207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C3745E-A35A-42D7-AC65-B75BC47E710C}"/>
              </a:ext>
            </a:extLst>
          </p:cNvPr>
          <p:cNvSpPr/>
          <p:nvPr/>
        </p:nvSpPr>
        <p:spPr>
          <a:xfrm>
            <a:off x="1888177" y="4807964"/>
            <a:ext cx="429714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85CE4-D02E-4F1F-8A5A-1CF1A3F8BF67}"/>
              </a:ext>
            </a:extLst>
          </p:cNvPr>
          <p:cNvSpPr txBox="1"/>
          <p:nvPr/>
        </p:nvSpPr>
        <p:spPr>
          <a:xfrm>
            <a:off x="6747697" y="2947624"/>
            <a:ext cx="2581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</a:t>
            </a:r>
            <a:r>
              <a:rPr lang="en-US" altLang="ko-KR" sz="12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hidden_units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=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[972, 972]</a:t>
            </a:r>
            <a:endParaRPr lang="ko-KR" altLang="en-US" sz="12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4583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– Vision Transformer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Vision Transformer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F8CAE3-BD43-4641-9FBA-C26654B02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99" y="2167200"/>
            <a:ext cx="7335595" cy="407533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3DD0D20-9B6D-4067-B838-6B6B0CDF22E2}"/>
              </a:ext>
            </a:extLst>
          </p:cNvPr>
          <p:cNvSpPr/>
          <p:nvPr/>
        </p:nvSpPr>
        <p:spPr>
          <a:xfrm>
            <a:off x="2088972" y="4383900"/>
            <a:ext cx="429714" cy="188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534E4B-72C8-409F-B11D-2128E9FE63CD}"/>
              </a:ext>
            </a:extLst>
          </p:cNvPr>
          <p:cNvSpPr/>
          <p:nvPr/>
        </p:nvSpPr>
        <p:spPr>
          <a:xfrm>
            <a:off x="2114236" y="5714679"/>
            <a:ext cx="1974523" cy="188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975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Modeling – Vision Transformer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Vision Transformer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B38F0D-BDBB-4D4D-BE90-287CDA4017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557"/>
          <a:stretch/>
        </p:blipFill>
        <p:spPr>
          <a:xfrm>
            <a:off x="850899" y="2167199"/>
            <a:ext cx="7335595" cy="328028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8883949-5AD7-41B6-A8FC-E757230741D9}"/>
              </a:ext>
            </a:extLst>
          </p:cNvPr>
          <p:cNvSpPr/>
          <p:nvPr/>
        </p:nvSpPr>
        <p:spPr>
          <a:xfrm>
            <a:off x="2212410" y="3868334"/>
            <a:ext cx="571949" cy="188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A26411-7E95-450F-BEF4-A01E0C483DF1}"/>
              </a:ext>
            </a:extLst>
          </p:cNvPr>
          <p:cNvSpPr/>
          <p:nvPr/>
        </p:nvSpPr>
        <p:spPr>
          <a:xfrm>
            <a:off x="2073897" y="2478105"/>
            <a:ext cx="200465" cy="188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982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Methods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Compile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C5FF7D-F374-46CF-BB00-F301ACFEAD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012"/>
          <a:stretch/>
        </p:blipFill>
        <p:spPr>
          <a:xfrm>
            <a:off x="850900" y="2167202"/>
            <a:ext cx="5802820" cy="15293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5E10534-531A-4F09-A6A4-296783ACC7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469"/>
          <a:stretch/>
        </p:blipFill>
        <p:spPr>
          <a:xfrm>
            <a:off x="850900" y="4404098"/>
            <a:ext cx="5802820" cy="16086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1455C7-D76A-466D-B432-4647C85CE7EF}"/>
              </a:ext>
            </a:extLst>
          </p:cNvPr>
          <p:cNvSpPr txBox="1"/>
          <p:nvPr/>
        </p:nvSpPr>
        <p:spPr>
          <a:xfrm>
            <a:off x="609600" y="3917163"/>
            <a:ext cx="722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Model fit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6B9A62-E830-4927-A4D0-0A76CAF3F2DC}"/>
              </a:ext>
            </a:extLst>
          </p:cNvPr>
          <p:cNvSpPr/>
          <p:nvPr/>
        </p:nvSpPr>
        <p:spPr>
          <a:xfrm>
            <a:off x="3324464" y="2364099"/>
            <a:ext cx="390649" cy="207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D5FF9B-D439-42EC-BB91-46E91C9D9EE7}"/>
              </a:ext>
            </a:extLst>
          </p:cNvPr>
          <p:cNvSpPr/>
          <p:nvPr/>
        </p:nvSpPr>
        <p:spPr>
          <a:xfrm>
            <a:off x="3086100" y="2572519"/>
            <a:ext cx="2436020" cy="188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837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0DE5527-34F4-C151-951A-147F1DFBC6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11A055-D2D5-754A-E285-031ECEE82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190C2F-2E8C-DDA0-E5C6-210B91358C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4986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Accuracy, Loss per epoch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Best Performance : epoch 90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D74A8D3B-BCBB-401C-8580-7B2DF9010444}"/>
              </a:ext>
            </a:extLst>
          </p:cNvPr>
          <p:cNvSpPr txBox="1">
            <a:spLocks/>
          </p:cNvSpPr>
          <p:nvPr/>
        </p:nvSpPr>
        <p:spPr>
          <a:xfrm>
            <a:off x="425043" y="4796056"/>
            <a:ext cx="11353612" cy="562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2000" indent="-189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75000"/>
              <a:buFontTx/>
              <a:buBlip>
                <a:blip r:embed="rId2"/>
              </a:buBlip>
              <a:defRPr sz="2000" b="1" kern="1200">
                <a:solidFill>
                  <a:srgbClr val="333A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1pPr>
            <a:lvl2pPr marL="351000" indent="-135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2pPr>
            <a:lvl3pPr marL="567000" indent="-189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5000"/>
              <a:buFont typeface="맑은 고딕" panose="020B0503020000020004" pitchFamily="50" charset="-127"/>
              <a:buChar char="→"/>
              <a:defRPr sz="1400" kern="1200">
                <a:solidFill>
                  <a:srgbClr val="387682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675000" indent="-10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맑은 고딕" panose="020B0503020000020004" pitchFamily="50" charset="-127"/>
              <a:buChar char="-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Model evaluate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04EABB0-9CDE-4C96-8637-9F0F89756CB3}"/>
              </a:ext>
            </a:extLst>
          </p:cNvPr>
          <p:cNvGrpSpPr/>
          <p:nvPr/>
        </p:nvGrpSpPr>
        <p:grpSpPr>
          <a:xfrm>
            <a:off x="2282961" y="2277469"/>
            <a:ext cx="7626078" cy="2495550"/>
            <a:chOff x="2282961" y="2212788"/>
            <a:chExt cx="7626078" cy="2495550"/>
          </a:xfrm>
        </p:grpSpPr>
        <p:pic>
          <p:nvPicPr>
            <p:cNvPr id="14338" name="Picture 2">
              <a:extLst>
                <a:ext uri="{FF2B5EF4-FFF2-40B4-BE49-F238E27FC236}">
                  <a16:creationId xmlns:a16="http://schemas.microsoft.com/office/drawing/2014/main" id="{499DA081-A240-4F14-9824-A5E93C7F01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2389" y="2212788"/>
              <a:ext cx="3676650" cy="2495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340" name="Picture 4">
              <a:extLst>
                <a:ext uri="{FF2B5EF4-FFF2-40B4-BE49-F238E27FC236}">
                  <a16:creationId xmlns:a16="http://schemas.microsoft.com/office/drawing/2014/main" id="{C579CBAB-FDB8-45CC-9A37-5B099B54BC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2961" y="2212788"/>
              <a:ext cx="3676650" cy="2495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2AA7DE12-9021-4322-8FD4-8F0CB815F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99" y="5373025"/>
            <a:ext cx="7668695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73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 err="1"/>
              <a:t>Classfication</a:t>
            </a:r>
            <a:r>
              <a:rPr lang="en-US" altLang="ko-KR" dirty="0"/>
              <a:t>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1070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Classification Report &amp; Confusion Matrix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440A34D-59CD-4F6B-920B-A95C4F4B40DC}"/>
              </a:ext>
            </a:extLst>
          </p:cNvPr>
          <p:cNvGrpSpPr/>
          <p:nvPr/>
        </p:nvGrpSpPr>
        <p:grpSpPr>
          <a:xfrm>
            <a:off x="1581418" y="2723819"/>
            <a:ext cx="9029163" cy="2495550"/>
            <a:chOff x="1123273" y="2762730"/>
            <a:chExt cx="9029163" cy="2495550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18BEC64C-651C-4F36-A5D9-7593E45124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7236" y="2762730"/>
              <a:ext cx="3505200" cy="2495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C0B3BC0-D34C-40C5-8D30-98682B53AB0B}"/>
                </a:ext>
              </a:extLst>
            </p:cNvPr>
            <p:cNvGrpSpPr/>
            <p:nvPr/>
          </p:nvGrpSpPr>
          <p:grpSpPr>
            <a:xfrm>
              <a:off x="1123273" y="2860288"/>
              <a:ext cx="4966241" cy="2300435"/>
              <a:chOff x="1208639" y="2804357"/>
              <a:chExt cx="4677428" cy="2105319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01B42C15-8676-43AA-876E-31160C16C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8639" y="2804357"/>
                <a:ext cx="4677428" cy="2105319"/>
              </a:xfrm>
              <a:prstGeom prst="rect">
                <a:avLst/>
              </a:prstGeom>
            </p:spPr>
          </p:pic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FEA08E98-CDFF-4070-9421-97EE1DD13D8B}"/>
                  </a:ext>
                </a:extLst>
              </p:cNvPr>
              <p:cNvSpPr/>
              <p:nvPr/>
            </p:nvSpPr>
            <p:spPr>
              <a:xfrm>
                <a:off x="3662662" y="3415576"/>
                <a:ext cx="429714" cy="20781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9CFB1B7-D156-42DD-8439-96896A8CB374}"/>
              </a:ext>
            </a:extLst>
          </p:cNvPr>
          <p:cNvSpPr txBox="1"/>
          <p:nvPr/>
        </p:nvSpPr>
        <p:spPr>
          <a:xfrm>
            <a:off x="1482980" y="5219369"/>
            <a:ext cx="5433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recall : TP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/ ( TP</a:t>
            </a:r>
            <a:r>
              <a:rPr lang="ko-KR" altLang="en-US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+ FN)</a:t>
            </a:r>
          </a:p>
          <a:p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  ability of classifier to find all positive</a:t>
            </a:r>
            <a:endParaRPr lang="ko-KR" altLang="en-US" sz="12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045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0DE5527-34F4-C151-951A-147F1DFBC6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11A055-D2D5-754A-E285-031ECEE82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Discussion &amp; Conclusion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190C2F-2E8C-DDA0-E5C6-210B91358C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4006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Discussion &amp; Conclusion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70D1A-2766-40EB-A9AB-2E4A2EE00C5A}"/>
              </a:ext>
            </a:extLst>
          </p:cNvPr>
          <p:cNvSpPr txBox="1"/>
          <p:nvPr/>
        </p:nvSpPr>
        <p:spPr>
          <a:xfrm>
            <a:off x="609600" y="1715650"/>
            <a:ext cx="6812604" cy="877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Accuracy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70%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Lower Performance in Meningioma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2F6F3-1DCE-9182-26B3-8B2B4FD090C9}"/>
              </a:ext>
            </a:extLst>
          </p:cNvPr>
          <p:cNvSpPr txBox="1"/>
          <p:nvPr/>
        </p:nvSpPr>
        <p:spPr>
          <a:xfrm>
            <a:off x="2378805" y="5477406"/>
            <a:ext cx="8413773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Inable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to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See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Overall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Morphological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Features</a:t>
            </a:r>
          </a:p>
          <a:p>
            <a:pPr>
              <a:spcAft>
                <a:spcPts val="1000"/>
              </a:spcAft>
            </a:pP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Low Number of Transformer Encoding → Cause Less Shuffled Information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1862E2B-1ADD-DA19-5AE5-3D43420D956A}"/>
              </a:ext>
            </a:extLst>
          </p:cNvPr>
          <p:cNvSpPr/>
          <p:nvPr/>
        </p:nvSpPr>
        <p:spPr>
          <a:xfrm>
            <a:off x="1773836" y="5703296"/>
            <a:ext cx="475129" cy="331694"/>
          </a:xfrm>
          <a:prstGeom prst="rightArrow">
            <a:avLst/>
          </a:prstGeom>
          <a:solidFill>
            <a:srgbClr val="387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02355A1-1D0B-1C90-01E1-0FC466589404}"/>
              </a:ext>
            </a:extLst>
          </p:cNvPr>
          <p:cNvGrpSpPr/>
          <p:nvPr/>
        </p:nvGrpSpPr>
        <p:grpSpPr>
          <a:xfrm>
            <a:off x="3075110" y="2734787"/>
            <a:ext cx="6041780" cy="2323583"/>
            <a:chOff x="1608118" y="3184798"/>
            <a:chExt cx="4832869" cy="1792409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30E719C-C1C6-6EAB-E6E4-785868AA0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2783" y="3184798"/>
              <a:ext cx="1594717" cy="1792409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EDF10BB-E6C6-91AE-986F-5A0A55939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8118" y="3199708"/>
              <a:ext cx="1614726" cy="176756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43BD4BF-1200-D998-6E0C-F376489A9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17561" y="3215496"/>
              <a:ext cx="1623426" cy="17417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E619EAE-22B3-417D-9955-B0B0BF44E19E}"/>
              </a:ext>
            </a:extLst>
          </p:cNvPr>
          <p:cNvSpPr txBox="1"/>
          <p:nvPr/>
        </p:nvSpPr>
        <p:spPr>
          <a:xfrm>
            <a:off x="3386293" y="5058370"/>
            <a:ext cx="5433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&lt; Misclassification Image &gt;</a:t>
            </a:r>
            <a:endParaRPr lang="ko-KR" altLang="en-US" sz="12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1035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1DE8B4B-1A47-88E1-DE6D-7BDDF2D040A2}"/>
              </a:ext>
            </a:extLst>
          </p:cNvPr>
          <p:cNvCxnSpPr>
            <a:cxnSpLocks/>
          </p:cNvCxnSpPr>
          <p:nvPr/>
        </p:nvCxnSpPr>
        <p:spPr>
          <a:xfrm>
            <a:off x="2822713" y="2577271"/>
            <a:ext cx="1508696" cy="825560"/>
          </a:xfrm>
          <a:prstGeom prst="straightConnector1">
            <a:avLst/>
          </a:prstGeom>
          <a:ln w="28575">
            <a:solidFill>
              <a:srgbClr val="2247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15C362A-C945-5A2D-6699-28C66D1E6C5E}"/>
              </a:ext>
            </a:extLst>
          </p:cNvPr>
          <p:cNvCxnSpPr>
            <a:cxnSpLocks/>
          </p:cNvCxnSpPr>
          <p:nvPr/>
        </p:nvCxnSpPr>
        <p:spPr>
          <a:xfrm flipH="1">
            <a:off x="7904980" y="2689521"/>
            <a:ext cx="1263236" cy="713310"/>
          </a:xfrm>
          <a:prstGeom prst="straightConnector1">
            <a:avLst/>
          </a:prstGeom>
          <a:ln w="28575">
            <a:solidFill>
              <a:srgbClr val="2247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0CBA57F-5418-9A8E-8624-4437BE1F0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Discussion &amp; Conclusion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A5AC76-3223-AC8B-D66D-79F0E8D3C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43" y="993308"/>
            <a:ext cx="11353612" cy="562537"/>
          </a:xfrm>
        </p:spPr>
        <p:txBody>
          <a:bodyPr/>
          <a:lstStyle/>
          <a:p>
            <a:r>
              <a:rPr lang="en-US" altLang="ko-KR" dirty="0"/>
              <a:t>Conclusion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30F6402-C298-956E-91C2-AE811A7471FD}"/>
              </a:ext>
            </a:extLst>
          </p:cNvPr>
          <p:cNvGrpSpPr/>
          <p:nvPr/>
        </p:nvGrpSpPr>
        <p:grpSpPr>
          <a:xfrm>
            <a:off x="3023783" y="4914026"/>
            <a:ext cx="6141060" cy="1113182"/>
            <a:chOff x="3027157" y="5135049"/>
            <a:chExt cx="6141060" cy="1113182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8F4998D-C572-0FD7-2BF7-7BF9EFEDB583}"/>
                </a:ext>
              </a:extLst>
            </p:cNvPr>
            <p:cNvSpPr/>
            <p:nvPr/>
          </p:nvSpPr>
          <p:spPr>
            <a:xfrm>
              <a:off x="3027157" y="5135049"/>
              <a:ext cx="6141060" cy="1113182"/>
            </a:xfrm>
            <a:prstGeom prst="roundRect">
              <a:avLst/>
            </a:prstGeom>
            <a:solidFill>
              <a:srgbClr val="D4E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15CA57-44C4-F54F-9FE7-982E663C68BE}"/>
                </a:ext>
              </a:extLst>
            </p:cNvPr>
            <p:cNvSpPr txBox="1"/>
            <p:nvPr/>
          </p:nvSpPr>
          <p:spPr>
            <a:xfrm>
              <a:off x="3267711" y="5368474"/>
              <a:ext cx="56565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22474E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Utilization of </a:t>
              </a:r>
              <a:r>
                <a:rPr lang="en-US" altLang="ko-KR" dirty="0" err="1">
                  <a:solidFill>
                    <a:srgbClr val="22474E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ViT</a:t>
              </a:r>
              <a:r>
                <a:rPr lang="en-US" altLang="ko-KR" dirty="0">
                  <a:solidFill>
                    <a:srgbClr val="22474E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classifier </a:t>
              </a:r>
            </a:p>
            <a:p>
              <a:pPr algn="ctr"/>
              <a:r>
                <a:rPr lang="en-US" altLang="ko-KR" dirty="0">
                  <a:solidFill>
                    <a:srgbClr val="22474E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as Primary Diagnostic Aid in Radiology</a:t>
              </a:r>
              <a:endParaRPr lang="ko-KR" altLang="en-US" dirty="0">
                <a:solidFill>
                  <a:srgbClr val="22474E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6CE19F5-9F05-BA24-F69C-BA927B454BA5}"/>
              </a:ext>
            </a:extLst>
          </p:cNvPr>
          <p:cNvGrpSpPr/>
          <p:nvPr/>
        </p:nvGrpSpPr>
        <p:grpSpPr>
          <a:xfrm>
            <a:off x="1930480" y="1872889"/>
            <a:ext cx="2186608" cy="834887"/>
            <a:chOff x="1570383" y="2375450"/>
            <a:chExt cx="2186608" cy="83488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230E8A3-76D4-BE23-46A3-0980ED2E694D}"/>
                </a:ext>
              </a:extLst>
            </p:cNvPr>
            <p:cNvSpPr/>
            <p:nvPr/>
          </p:nvSpPr>
          <p:spPr>
            <a:xfrm>
              <a:off x="1570383" y="2375450"/>
              <a:ext cx="2186608" cy="834887"/>
            </a:xfrm>
            <a:prstGeom prst="roundRect">
              <a:avLst/>
            </a:prstGeom>
            <a:solidFill>
              <a:srgbClr val="3876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8581F3B-EC75-8D70-58F6-27D7234D85D2}"/>
                </a:ext>
              </a:extLst>
            </p:cNvPr>
            <p:cNvSpPr txBox="1"/>
            <p:nvPr/>
          </p:nvSpPr>
          <p:spPr>
            <a:xfrm>
              <a:off x="1689652" y="2525834"/>
              <a:ext cx="194806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Hyper parameter</a:t>
              </a:r>
            </a:p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tuning</a:t>
              </a:r>
              <a:endParaRPr lang="ko-KR" altLang="en-US" sz="15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74D20F8-33F2-EE46-C53C-30ACBFBB9DBA}"/>
              </a:ext>
            </a:extLst>
          </p:cNvPr>
          <p:cNvGrpSpPr/>
          <p:nvPr/>
        </p:nvGrpSpPr>
        <p:grpSpPr>
          <a:xfrm>
            <a:off x="5002696" y="1872889"/>
            <a:ext cx="2186608" cy="834887"/>
            <a:chOff x="4535970" y="2351941"/>
            <a:chExt cx="2186608" cy="83488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C082A97-28F7-26DF-045B-513AC04366F0}"/>
                </a:ext>
              </a:extLst>
            </p:cNvPr>
            <p:cNvSpPr/>
            <p:nvPr/>
          </p:nvSpPr>
          <p:spPr>
            <a:xfrm>
              <a:off x="4535970" y="2351941"/>
              <a:ext cx="2186608" cy="834887"/>
            </a:xfrm>
            <a:prstGeom prst="roundRect">
              <a:avLst/>
            </a:prstGeom>
            <a:solidFill>
              <a:srgbClr val="3876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D38809-F7E6-A17D-0EF8-9E7F6DEA94EB}"/>
                </a:ext>
              </a:extLst>
            </p:cNvPr>
            <p:cNvSpPr txBox="1"/>
            <p:nvPr/>
          </p:nvSpPr>
          <p:spPr>
            <a:xfrm>
              <a:off x="4807652" y="2492384"/>
              <a:ext cx="16432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Control</a:t>
              </a:r>
            </a:p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patch</a:t>
              </a:r>
              <a:r>
                <a:rPr lang="ko-KR" altLang="en-US" sz="15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  <a:r>
                <a:rPr lang="en-US" altLang="ko-KR" sz="15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size</a:t>
              </a:r>
              <a:endParaRPr lang="ko-KR" altLang="en-US" sz="15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7D172C3-096D-6F7C-BAB2-7A53E52C6042}"/>
              </a:ext>
            </a:extLst>
          </p:cNvPr>
          <p:cNvGrpSpPr/>
          <p:nvPr/>
        </p:nvGrpSpPr>
        <p:grpSpPr>
          <a:xfrm>
            <a:off x="8074912" y="1872889"/>
            <a:ext cx="2186608" cy="834887"/>
            <a:chOff x="7904922" y="2385390"/>
            <a:chExt cx="2186608" cy="83488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56242CE-F99F-CDDE-9D7E-107AF3014353}"/>
                </a:ext>
              </a:extLst>
            </p:cNvPr>
            <p:cNvSpPr/>
            <p:nvPr/>
          </p:nvSpPr>
          <p:spPr>
            <a:xfrm>
              <a:off x="7904922" y="2385390"/>
              <a:ext cx="2186608" cy="834887"/>
            </a:xfrm>
            <a:prstGeom prst="roundRect">
              <a:avLst/>
            </a:prstGeom>
            <a:solidFill>
              <a:srgbClr val="3876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6F8346-91F6-F8A1-EB7A-7BC690193764}"/>
                </a:ext>
              </a:extLst>
            </p:cNvPr>
            <p:cNvSpPr txBox="1"/>
            <p:nvPr/>
          </p:nvSpPr>
          <p:spPr>
            <a:xfrm>
              <a:off x="8032498" y="2410418"/>
              <a:ext cx="1931455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Increase Transformer Encoder Layer</a:t>
              </a:r>
              <a:endParaRPr lang="ko-KR" altLang="en-US" sz="15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E5A6270-A053-CCDC-68D2-03AA800813CC}"/>
              </a:ext>
            </a:extLst>
          </p:cNvPr>
          <p:cNvGrpSpPr/>
          <p:nvPr/>
        </p:nvGrpSpPr>
        <p:grpSpPr>
          <a:xfrm>
            <a:off x="3342861" y="3429000"/>
            <a:ext cx="5506278" cy="1458857"/>
            <a:chOff x="3342861" y="3715262"/>
            <a:chExt cx="5506278" cy="1458857"/>
          </a:xfrm>
        </p:grpSpPr>
        <p:sp>
          <p:nvSpPr>
            <p:cNvPr id="16" name="설명선: 아래쪽 화살표 15">
              <a:extLst>
                <a:ext uri="{FF2B5EF4-FFF2-40B4-BE49-F238E27FC236}">
                  <a16:creationId xmlns:a16="http://schemas.microsoft.com/office/drawing/2014/main" id="{7B5CCDCC-6E1E-B871-8EB0-9674590EF8AE}"/>
                </a:ext>
              </a:extLst>
            </p:cNvPr>
            <p:cNvSpPr/>
            <p:nvPr/>
          </p:nvSpPr>
          <p:spPr>
            <a:xfrm>
              <a:off x="3342861" y="3715262"/>
              <a:ext cx="5506278" cy="1458857"/>
            </a:xfrm>
            <a:prstGeom prst="downArrowCallout">
              <a:avLst>
                <a:gd name="adj1" fmla="val 54846"/>
                <a:gd name="adj2" fmla="val 50090"/>
                <a:gd name="adj3" fmla="val 24319"/>
                <a:gd name="adj4" fmla="val 56801"/>
              </a:avLst>
            </a:prstGeom>
            <a:solidFill>
              <a:srgbClr val="76AD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4A06AE-3AF3-6D3C-2FEC-518918686105}"/>
                </a:ext>
              </a:extLst>
            </p:cNvPr>
            <p:cNvSpPr txBox="1"/>
            <p:nvPr/>
          </p:nvSpPr>
          <p:spPr>
            <a:xfrm>
              <a:off x="3929690" y="3954906"/>
              <a:ext cx="4332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Enhance </a:t>
              </a:r>
              <a:r>
                <a:rPr lang="en-US" altLang="ko-KR" dirty="0" err="1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ViT</a:t>
              </a:r>
              <a:r>
                <a:rPr lang="en-US" altLang="ko-KR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Model Performance</a:t>
              </a:r>
              <a:endParaRPr lang="ko-KR" altLang="en-US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75A891A-603A-E3D3-FBC4-5A42B4D2B534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6096000" y="2707776"/>
            <a:ext cx="0" cy="721224"/>
          </a:xfrm>
          <a:prstGeom prst="straightConnector1">
            <a:avLst/>
          </a:prstGeom>
          <a:ln w="28575">
            <a:solidFill>
              <a:srgbClr val="2247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216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60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6159</TotalTime>
  <Words>1076</Words>
  <Application>Microsoft Office PowerPoint</Application>
  <PresentationFormat>와이드스크린</PresentationFormat>
  <Paragraphs>257</Paragraphs>
  <Slides>26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40" baseType="lpstr">
      <vt:lpstr>에스코어 드림 7 ExtraBold</vt:lpstr>
      <vt:lpstr>에스코어 드림 4 Regular</vt:lpstr>
      <vt:lpstr>Calibri</vt:lpstr>
      <vt:lpstr>맑은 고딕</vt:lpstr>
      <vt:lpstr>Cambria</vt:lpstr>
      <vt:lpstr>에스코어 드림 5 Medium</vt:lpstr>
      <vt:lpstr>에스코어 드림 8 Heavy</vt:lpstr>
      <vt:lpstr>에스코어 드림 6 Bold</vt:lpstr>
      <vt:lpstr>KoPub돋움체 Bold</vt:lpstr>
      <vt:lpstr>에스코어 드림 3 Light</vt:lpstr>
      <vt:lpstr>Wingdings</vt:lpstr>
      <vt:lpstr>Arial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CBNUH</dc:creator>
  <cp:lastModifiedBy>도현 곽</cp:lastModifiedBy>
  <cp:revision>429</cp:revision>
  <dcterms:created xsi:type="dcterms:W3CDTF">2022-06-27T07:33:09Z</dcterms:created>
  <dcterms:modified xsi:type="dcterms:W3CDTF">2026-06-04T02:47:32Z</dcterms:modified>
</cp:coreProperties>
</file>